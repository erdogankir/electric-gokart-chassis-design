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8" r:id="rId2"/>
  </p:sldIdLst>
  <p:sldSz cx="25199975" cy="359997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3864"/>
    <a:srgbClr val="313177"/>
    <a:srgbClr val="107F8E"/>
    <a:srgbClr val="17B9CF"/>
    <a:srgbClr val="9083ED"/>
    <a:srgbClr val="A61A95"/>
    <a:srgbClr val="0FB17B"/>
    <a:srgbClr val="CE84EC"/>
    <a:srgbClr val="33CBC4"/>
    <a:srgbClr val="FCFE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529" autoAdjust="0"/>
    <p:restoredTop sz="94660"/>
  </p:normalViewPr>
  <p:slideViewPr>
    <p:cSldViewPr snapToGrid="0">
      <p:cViewPr>
        <p:scale>
          <a:sx n="33" d="100"/>
          <a:sy n="33" d="100"/>
        </p:scale>
        <p:origin x="2352" y="-16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1889998" y="5891626"/>
            <a:ext cx="21419979" cy="12533242"/>
          </a:xfrm>
        </p:spPr>
        <p:txBody>
          <a:bodyPr anchor="b"/>
          <a:lstStyle>
            <a:lvl1pPr algn="ctr">
              <a:defRPr sz="16535"/>
            </a:lvl1pPr>
          </a:lstStyle>
          <a:p>
            <a:r>
              <a:rPr lang="tr-TR"/>
              <a:t>Asıl başlık stilini düzenlemek için tıklayın</a:t>
            </a:r>
            <a:endParaRPr lang="en-US" dirty="0"/>
          </a:p>
        </p:txBody>
      </p:sp>
      <p:sp>
        <p:nvSpPr>
          <p:cNvPr id="3" name="Subtitle 2"/>
          <p:cNvSpPr>
            <a:spLocks noGrp="1"/>
          </p:cNvSpPr>
          <p:nvPr>
            <p:ph type="subTitle" idx="1"/>
          </p:nvPr>
        </p:nvSpPr>
        <p:spPr>
          <a:xfrm>
            <a:off x="3149997" y="18908198"/>
            <a:ext cx="18899981" cy="8691601"/>
          </a:xfrm>
        </p:spPr>
        <p:txBody>
          <a:bodyPr/>
          <a:lstStyle>
            <a:lvl1pPr marL="0" indent="0" algn="ctr">
              <a:buNone/>
              <a:defRPr sz="6614"/>
            </a:lvl1pPr>
            <a:lvl2pPr marL="1259997" indent="0" algn="ctr">
              <a:buNone/>
              <a:defRPr sz="5512"/>
            </a:lvl2pPr>
            <a:lvl3pPr marL="2519995" indent="0" algn="ctr">
              <a:buNone/>
              <a:defRPr sz="4961"/>
            </a:lvl3pPr>
            <a:lvl4pPr marL="3779992" indent="0" algn="ctr">
              <a:buNone/>
              <a:defRPr sz="4409"/>
            </a:lvl4pPr>
            <a:lvl5pPr marL="5039990" indent="0" algn="ctr">
              <a:buNone/>
              <a:defRPr sz="4409"/>
            </a:lvl5pPr>
            <a:lvl6pPr marL="6299987" indent="0" algn="ctr">
              <a:buNone/>
              <a:defRPr sz="4409"/>
            </a:lvl6pPr>
            <a:lvl7pPr marL="7559985" indent="0" algn="ctr">
              <a:buNone/>
              <a:defRPr sz="4409"/>
            </a:lvl7pPr>
            <a:lvl8pPr marL="8819982" indent="0" algn="ctr">
              <a:buNone/>
              <a:defRPr sz="4409"/>
            </a:lvl8pPr>
            <a:lvl9pPr marL="10079980" indent="0" algn="ctr">
              <a:buNone/>
              <a:defRPr sz="4409"/>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26A0F428-1390-4148-B849-2AFD6277FE5F}" type="datetimeFigureOut">
              <a:rPr lang="tr-TR" smtClean="0"/>
              <a:t>21.01.2026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42B756D6-ED5B-4506-A9EF-9F1CCA24DCE7}" type="slidenum">
              <a:rPr lang="tr-TR" smtClean="0"/>
              <a:t>‹#›</a:t>
            </a:fld>
            <a:endParaRPr lang="tr-TR"/>
          </a:p>
        </p:txBody>
      </p:sp>
    </p:spTree>
    <p:extLst>
      <p:ext uri="{BB962C8B-B14F-4D97-AF65-F5344CB8AC3E}">
        <p14:creationId xmlns:p14="http://schemas.microsoft.com/office/powerpoint/2010/main" val="26257689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26A0F428-1390-4148-B849-2AFD6277FE5F}" type="datetimeFigureOut">
              <a:rPr lang="tr-TR" smtClean="0"/>
              <a:t>21.01.2026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42B756D6-ED5B-4506-A9EF-9F1CCA24DCE7}" type="slidenum">
              <a:rPr lang="tr-TR" smtClean="0"/>
              <a:t>‹#›</a:t>
            </a:fld>
            <a:endParaRPr lang="tr-TR"/>
          </a:p>
        </p:txBody>
      </p:sp>
    </p:spTree>
    <p:extLst>
      <p:ext uri="{BB962C8B-B14F-4D97-AF65-F5344CB8AC3E}">
        <p14:creationId xmlns:p14="http://schemas.microsoft.com/office/powerpoint/2010/main" val="643145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Title 1"/>
          <p:cNvSpPr>
            <a:spLocks noGrp="1"/>
          </p:cNvSpPr>
          <p:nvPr>
            <p:ph type="title"/>
          </p:nvPr>
        </p:nvSpPr>
        <p:spPr>
          <a:xfrm>
            <a:off x="1719375" y="8974945"/>
            <a:ext cx="21734978" cy="14974888"/>
          </a:xfrm>
        </p:spPr>
        <p:txBody>
          <a:bodyPr anchor="b"/>
          <a:lstStyle>
            <a:lvl1pPr>
              <a:defRPr sz="16535"/>
            </a:lvl1pPr>
          </a:lstStyle>
          <a:p>
            <a:r>
              <a:rPr lang="tr-TR"/>
              <a:t>Asıl başlık stilini düzenlemek için tıklayın</a:t>
            </a:r>
            <a:endParaRPr lang="en-US" dirty="0"/>
          </a:p>
        </p:txBody>
      </p:sp>
      <p:sp>
        <p:nvSpPr>
          <p:cNvPr id="3" name="Text Placeholder 2"/>
          <p:cNvSpPr>
            <a:spLocks noGrp="1"/>
          </p:cNvSpPr>
          <p:nvPr>
            <p:ph type="body" idx="1"/>
          </p:nvPr>
        </p:nvSpPr>
        <p:spPr>
          <a:xfrm>
            <a:off x="1719375" y="24091502"/>
            <a:ext cx="21734978" cy="7874940"/>
          </a:xfrm>
        </p:spPr>
        <p:txBody>
          <a:bodyPr/>
          <a:lstStyle>
            <a:lvl1pPr marL="0" indent="0">
              <a:buNone/>
              <a:defRPr sz="6614">
                <a:solidFill>
                  <a:schemeClr val="tx1"/>
                </a:solidFill>
              </a:defRPr>
            </a:lvl1pPr>
            <a:lvl2pPr marL="1259997" indent="0">
              <a:buNone/>
              <a:defRPr sz="5512">
                <a:solidFill>
                  <a:schemeClr val="tx1">
                    <a:tint val="75000"/>
                  </a:schemeClr>
                </a:solidFill>
              </a:defRPr>
            </a:lvl2pPr>
            <a:lvl3pPr marL="2519995" indent="0">
              <a:buNone/>
              <a:defRPr sz="4961">
                <a:solidFill>
                  <a:schemeClr val="tx1">
                    <a:tint val="75000"/>
                  </a:schemeClr>
                </a:solidFill>
              </a:defRPr>
            </a:lvl3pPr>
            <a:lvl4pPr marL="3779992" indent="0">
              <a:buNone/>
              <a:defRPr sz="4409">
                <a:solidFill>
                  <a:schemeClr val="tx1">
                    <a:tint val="75000"/>
                  </a:schemeClr>
                </a:solidFill>
              </a:defRPr>
            </a:lvl4pPr>
            <a:lvl5pPr marL="5039990" indent="0">
              <a:buNone/>
              <a:defRPr sz="4409">
                <a:solidFill>
                  <a:schemeClr val="tx1">
                    <a:tint val="75000"/>
                  </a:schemeClr>
                </a:solidFill>
              </a:defRPr>
            </a:lvl5pPr>
            <a:lvl6pPr marL="6299987" indent="0">
              <a:buNone/>
              <a:defRPr sz="4409">
                <a:solidFill>
                  <a:schemeClr val="tx1">
                    <a:tint val="75000"/>
                  </a:schemeClr>
                </a:solidFill>
              </a:defRPr>
            </a:lvl6pPr>
            <a:lvl7pPr marL="7559985" indent="0">
              <a:buNone/>
              <a:defRPr sz="4409">
                <a:solidFill>
                  <a:schemeClr val="tx1">
                    <a:tint val="75000"/>
                  </a:schemeClr>
                </a:solidFill>
              </a:defRPr>
            </a:lvl7pPr>
            <a:lvl8pPr marL="8819982" indent="0">
              <a:buNone/>
              <a:defRPr sz="4409">
                <a:solidFill>
                  <a:schemeClr val="tx1">
                    <a:tint val="75000"/>
                  </a:schemeClr>
                </a:solidFill>
              </a:defRPr>
            </a:lvl8pPr>
            <a:lvl9pPr marL="10079980" indent="0">
              <a:buNone/>
              <a:defRPr sz="4409">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26A0F428-1390-4148-B849-2AFD6277FE5F}" type="datetimeFigureOut">
              <a:rPr lang="tr-TR" smtClean="0"/>
              <a:t>21.01.2026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42B756D6-ED5B-4506-A9EF-9F1CCA24DCE7}" type="slidenum">
              <a:rPr lang="tr-TR" smtClean="0"/>
              <a:t>‹#›</a:t>
            </a:fld>
            <a:endParaRPr lang="tr-TR"/>
          </a:p>
        </p:txBody>
      </p:sp>
    </p:spTree>
    <p:extLst>
      <p:ext uri="{BB962C8B-B14F-4D97-AF65-F5344CB8AC3E}">
        <p14:creationId xmlns:p14="http://schemas.microsoft.com/office/powerpoint/2010/main" val="12938098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1732498" y="9583264"/>
            <a:ext cx="10709989" cy="22841503"/>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12757488" y="9583264"/>
            <a:ext cx="10709989" cy="22841503"/>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26A0F428-1390-4148-B849-2AFD6277FE5F}" type="datetimeFigureOut">
              <a:rPr lang="tr-TR" smtClean="0"/>
              <a:t>21.01.2026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42B756D6-ED5B-4506-A9EF-9F1CCA24DCE7}" type="slidenum">
              <a:rPr lang="tr-TR" smtClean="0"/>
              <a:t>‹#›</a:t>
            </a:fld>
            <a:endParaRPr lang="tr-TR"/>
          </a:p>
        </p:txBody>
      </p:sp>
    </p:spTree>
    <p:extLst>
      <p:ext uri="{BB962C8B-B14F-4D97-AF65-F5344CB8AC3E}">
        <p14:creationId xmlns:p14="http://schemas.microsoft.com/office/powerpoint/2010/main" val="19589509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a:xfrm>
            <a:off x="1735781" y="1916661"/>
            <a:ext cx="21734978" cy="6958285"/>
          </a:xfrm>
        </p:spPr>
        <p:txBody>
          <a:bodyPr/>
          <a:lstStyle/>
          <a:p>
            <a:r>
              <a:rPr lang="tr-TR"/>
              <a:t>Asıl başlık stilini düzenlemek için tıklayın</a:t>
            </a:r>
            <a:endParaRPr lang="en-US" dirty="0"/>
          </a:p>
        </p:txBody>
      </p:sp>
      <p:sp>
        <p:nvSpPr>
          <p:cNvPr id="3" name="Text Placeholder 2"/>
          <p:cNvSpPr>
            <a:spLocks noGrp="1"/>
          </p:cNvSpPr>
          <p:nvPr>
            <p:ph type="body" idx="1"/>
          </p:nvPr>
        </p:nvSpPr>
        <p:spPr>
          <a:xfrm>
            <a:off x="1735783" y="8824938"/>
            <a:ext cx="10660769" cy="4324966"/>
          </a:xfrm>
        </p:spPr>
        <p:txBody>
          <a:bodyPr anchor="b"/>
          <a:lstStyle>
            <a:lvl1pPr marL="0" indent="0">
              <a:buNone/>
              <a:defRPr sz="6614" b="1"/>
            </a:lvl1pPr>
            <a:lvl2pPr marL="1259997" indent="0">
              <a:buNone/>
              <a:defRPr sz="5512" b="1"/>
            </a:lvl2pPr>
            <a:lvl3pPr marL="2519995" indent="0">
              <a:buNone/>
              <a:defRPr sz="4961" b="1"/>
            </a:lvl3pPr>
            <a:lvl4pPr marL="3779992" indent="0">
              <a:buNone/>
              <a:defRPr sz="4409" b="1"/>
            </a:lvl4pPr>
            <a:lvl5pPr marL="5039990" indent="0">
              <a:buNone/>
              <a:defRPr sz="4409" b="1"/>
            </a:lvl5pPr>
            <a:lvl6pPr marL="6299987" indent="0">
              <a:buNone/>
              <a:defRPr sz="4409" b="1"/>
            </a:lvl6pPr>
            <a:lvl7pPr marL="7559985" indent="0">
              <a:buNone/>
              <a:defRPr sz="4409" b="1"/>
            </a:lvl7pPr>
            <a:lvl8pPr marL="8819982" indent="0">
              <a:buNone/>
              <a:defRPr sz="4409" b="1"/>
            </a:lvl8pPr>
            <a:lvl9pPr marL="10079980" indent="0">
              <a:buNone/>
              <a:defRPr sz="4409" b="1"/>
            </a:lvl9pPr>
          </a:lstStyle>
          <a:p>
            <a:pPr lvl="0"/>
            <a:r>
              <a:rPr lang="tr-TR"/>
              <a:t>Asıl metin stillerini düzenlemek için tıklayın</a:t>
            </a:r>
          </a:p>
        </p:txBody>
      </p:sp>
      <p:sp>
        <p:nvSpPr>
          <p:cNvPr id="4" name="Content Placeholder 3"/>
          <p:cNvSpPr>
            <a:spLocks noGrp="1"/>
          </p:cNvSpPr>
          <p:nvPr>
            <p:ph sz="half" idx="2"/>
          </p:nvPr>
        </p:nvSpPr>
        <p:spPr>
          <a:xfrm>
            <a:off x="1735783" y="13149904"/>
            <a:ext cx="10660769" cy="19341529"/>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12757489" y="8824938"/>
            <a:ext cx="10713272" cy="4324966"/>
          </a:xfrm>
        </p:spPr>
        <p:txBody>
          <a:bodyPr anchor="b"/>
          <a:lstStyle>
            <a:lvl1pPr marL="0" indent="0">
              <a:buNone/>
              <a:defRPr sz="6614" b="1"/>
            </a:lvl1pPr>
            <a:lvl2pPr marL="1259997" indent="0">
              <a:buNone/>
              <a:defRPr sz="5512" b="1"/>
            </a:lvl2pPr>
            <a:lvl3pPr marL="2519995" indent="0">
              <a:buNone/>
              <a:defRPr sz="4961" b="1"/>
            </a:lvl3pPr>
            <a:lvl4pPr marL="3779992" indent="0">
              <a:buNone/>
              <a:defRPr sz="4409" b="1"/>
            </a:lvl4pPr>
            <a:lvl5pPr marL="5039990" indent="0">
              <a:buNone/>
              <a:defRPr sz="4409" b="1"/>
            </a:lvl5pPr>
            <a:lvl6pPr marL="6299987" indent="0">
              <a:buNone/>
              <a:defRPr sz="4409" b="1"/>
            </a:lvl6pPr>
            <a:lvl7pPr marL="7559985" indent="0">
              <a:buNone/>
              <a:defRPr sz="4409" b="1"/>
            </a:lvl7pPr>
            <a:lvl8pPr marL="8819982" indent="0">
              <a:buNone/>
              <a:defRPr sz="4409" b="1"/>
            </a:lvl8pPr>
            <a:lvl9pPr marL="10079980" indent="0">
              <a:buNone/>
              <a:defRPr sz="4409" b="1"/>
            </a:lvl9pPr>
          </a:lstStyle>
          <a:p>
            <a:pPr lvl="0"/>
            <a:r>
              <a:rPr lang="tr-TR"/>
              <a:t>Asıl metin stillerini düzenlemek için tıklayın</a:t>
            </a:r>
          </a:p>
        </p:txBody>
      </p:sp>
      <p:sp>
        <p:nvSpPr>
          <p:cNvPr id="6" name="Content Placeholder 5"/>
          <p:cNvSpPr>
            <a:spLocks noGrp="1"/>
          </p:cNvSpPr>
          <p:nvPr>
            <p:ph sz="quarter" idx="4"/>
          </p:nvPr>
        </p:nvSpPr>
        <p:spPr>
          <a:xfrm>
            <a:off x="12757489" y="13149904"/>
            <a:ext cx="10713272" cy="19341529"/>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26A0F428-1390-4148-B849-2AFD6277FE5F}" type="datetimeFigureOut">
              <a:rPr lang="tr-TR" smtClean="0"/>
              <a:t>21.01.2026</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42B756D6-ED5B-4506-A9EF-9F1CCA24DCE7}" type="slidenum">
              <a:rPr lang="tr-TR" smtClean="0"/>
              <a:t>‹#›</a:t>
            </a:fld>
            <a:endParaRPr lang="tr-TR"/>
          </a:p>
        </p:txBody>
      </p:sp>
    </p:spTree>
    <p:extLst>
      <p:ext uri="{BB962C8B-B14F-4D97-AF65-F5344CB8AC3E}">
        <p14:creationId xmlns:p14="http://schemas.microsoft.com/office/powerpoint/2010/main" val="295797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26A0F428-1390-4148-B849-2AFD6277FE5F}" type="datetimeFigureOut">
              <a:rPr lang="tr-TR" smtClean="0"/>
              <a:t>21.01.2026</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42B756D6-ED5B-4506-A9EF-9F1CCA24DCE7}" type="slidenum">
              <a:rPr lang="tr-TR" smtClean="0"/>
              <a:t>‹#›</a:t>
            </a:fld>
            <a:endParaRPr lang="tr-TR"/>
          </a:p>
        </p:txBody>
      </p:sp>
    </p:spTree>
    <p:extLst>
      <p:ext uri="{BB962C8B-B14F-4D97-AF65-F5344CB8AC3E}">
        <p14:creationId xmlns:p14="http://schemas.microsoft.com/office/powerpoint/2010/main" val="1221688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A0F428-1390-4148-B849-2AFD6277FE5F}" type="datetimeFigureOut">
              <a:rPr lang="tr-TR" smtClean="0"/>
              <a:t>21.01.2026</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42B756D6-ED5B-4506-A9EF-9F1CCA24DCE7}" type="slidenum">
              <a:rPr lang="tr-TR" smtClean="0"/>
              <a:t>‹#›</a:t>
            </a:fld>
            <a:endParaRPr lang="tr-TR"/>
          </a:p>
        </p:txBody>
      </p:sp>
    </p:spTree>
    <p:extLst>
      <p:ext uri="{BB962C8B-B14F-4D97-AF65-F5344CB8AC3E}">
        <p14:creationId xmlns:p14="http://schemas.microsoft.com/office/powerpoint/2010/main" val="1626216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1735780" y="2399982"/>
            <a:ext cx="8127648" cy="8399939"/>
          </a:xfrm>
        </p:spPr>
        <p:txBody>
          <a:bodyPr anchor="b"/>
          <a:lstStyle>
            <a:lvl1pPr>
              <a:defRPr sz="8819"/>
            </a:lvl1pPr>
          </a:lstStyle>
          <a:p>
            <a:r>
              <a:rPr lang="tr-TR"/>
              <a:t>Asıl başlık stilini düzenlemek için tıklayın</a:t>
            </a:r>
            <a:endParaRPr lang="en-US" dirty="0"/>
          </a:p>
        </p:txBody>
      </p:sp>
      <p:sp>
        <p:nvSpPr>
          <p:cNvPr id="3" name="Content Placeholder 2"/>
          <p:cNvSpPr>
            <a:spLocks noGrp="1"/>
          </p:cNvSpPr>
          <p:nvPr>
            <p:ph idx="1"/>
          </p:nvPr>
        </p:nvSpPr>
        <p:spPr>
          <a:xfrm>
            <a:off x="10713272" y="5183304"/>
            <a:ext cx="12757487" cy="25583147"/>
          </a:xfrm>
        </p:spPr>
        <p:txBody>
          <a:bodyPr/>
          <a:lstStyle>
            <a:lvl1pPr>
              <a:defRPr sz="8819"/>
            </a:lvl1pPr>
            <a:lvl2pPr>
              <a:defRPr sz="7717"/>
            </a:lvl2pPr>
            <a:lvl3pPr>
              <a:defRPr sz="6614"/>
            </a:lvl3pPr>
            <a:lvl4pPr>
              <a:defRPr sz="5512"/>
            </a:lvl4pPr>
            <a:lvl5pPr>
              <a:defRPr sz="5512"/>
            </a:lvl5pPr>
            <a:lvl6pPr>
              <a:defRPr sz="5512"/>
            </a:lvl6pPr>
            <a:lvl7pPr>
              <a:defRPr sz="5512"/>
            </a:lvl7pPr>
            <a:lvl8pPr>
              <a:defRPr sz="5512"/>
            </a:lvl8pPr>
            <a:lvl9pPr>
              <a:defRPr sz="5512"/>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1735780" y="10799922"/>
            <a:ext cx="8127648" cy="20008190"/>
          </a:xfrm>
        </p:spPr>
        <p:txBody>
          <a:bodyPr/>
          <a:lstStyle>
            <a:lvl1pPr marL="0" indent="0">
              <a:buNone/>
              <a:defRPr sz="4409"/>
            </a:lvl1pPr>
            <a:lvl2pPr marL="1259997" indent="0">
              <a:buNone/>
              <a:defRPr sz="3858"/>
            </a:lvl2pPr>
            <a:lvl3pPr marL="2519995" indent="0">
              <a:buNone/>
              <a:defRPr sz="3307"/>
            </a:lvl3pPr>
            <a:lvl4pPr marL="3779992" indent="0">
              <a:buNone/>
              <a:defRPr sz="2756"/>
            </a:lvl4pPr>
            <a:lvl5pPr marL="5039990" indent="0">
              <a:buNone/>
              <a:defRPr sz="2756"/>
            </a:lvl5pPr>
            <a:lvl6pPr marL="6299987" indent="0">
              <a:buNone/>
              <a:defRPr sz="2756"/>
            </a:lvl6pPr>
            <a:lvl7pPr marL="7559985" indent="0">
              <a:buNone/>
              <a:defRPr sz="2756"/>
            </a:lvl7pPr>
            <a:lvl8pPr marL="8819982" indent="0">
              <a:buNone/>
              <a:defRPr sz="2756"/>
            </a:lvl8pPr>
            <a:lvl9pPr marL="10079980" indent="0">
              <a:buNone/>
              <a:defRPr sz="2756"/>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26A0F428-1390-4148-B849-2AFD6277FE5F}" type="datetimeFigureOut">
              <a:rPr lang="tr-TR" smtClean="0"/>
              <a:t>21.01.2026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42B756D6-ED5B-4506-A9EF-9F1CCA24DCE7}" type="slidenum">
              <a:rPr lang="tr-TR" smtClean="0"/>
              <a:t>‹#›</a:t>
            </a:fld>
            <a:endParaRPr lang="tr-TR"/>
          </a:p>
        </p:txBody>
      </p:sp>
    </p:spTree>
    <p:extLst>
      <p:ext uri="{BB962C8B-B14F-4D97-AF65-F5344CB8AC3E}">
        <p14:creationId xmlns:p14="http://schemas.microsoft.com/office/powerpoint/2010/main" val="2904330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1735780" y="2399982"/>
            <a:ext cx="8127648" cy="8399939"/>
          </a:xfrm>
        </p:spPr>
        <p:txBody>
          <a:bodyPr anchor="b"/>
          <a:lstStyle>
            <a:lvl1pPr>
              <a:defRPr sz="8819"/>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10713272" y="5183304"/>
            <a:ext cx="12757487" cy="25583147"/>
          </a:xfrm>
        </p:spPr>
        <p:txBody>
          <a:bodyPr anchor="t"/>
          <a:lstStyle>
            <a:lvl1pPr marL="0" indent="0">
              <a:buNone/>
              <a:defRPr sz="8819"/>
            </a:lvl1pPr>
            <a:lvl2pPr marL="1259997" indent="0">
              <a:buNone/>
              <a:defRPr sz="7717"/>
            </a:lvl2pPr>
            <a:lvl3pPr marL="2519995" indent="0">
              <a:buNone/>
              <a:defRPr sz="6614"/>
            </a:lvl3pPr>
            <a:lvl4pPr marL="3779992" indent="0">
              <a:buNone/>
              <a:defRPr sz="5512"/>
            </a:lvl4pPr>
            <a:lvl5pPr marL="5039990" indent="0">
              <a:buNone/>
              <a:defRPr sz="5512"/>
            </a:lvl5pPr>
            <a:lvl6pPr marL="6299987" indent="0">
              <a:buNone/>
              <a:defRPr sz="5512"/>
            </a:lvl6pPr>
            <a:lvl7pPr marL="7559985" indent="0">
              <a:buNone/>
              <a:defRPr sz="5512"/>
            </a:lvl7pPr>
            <a:lvl8pPr marL="8819982" indent="0">
              <a:buNone/>
              <a:defRPr sz="5512"/>
            </a:lvl8pPr>
            <a:lvl9pPr marL="10079980" indent="0">
              <a:buNone/>
              <a:defRPr sz="5512"/>
            </a:lvl9pPr>
          </a:lstStyle>
          <a:p>
            <a:r>
              <a:rPr lang="tr-TR"/>
              <a:t>Resim eklemek için simgeye tıklayın</a:t>
            </a:r>
            <a:endParaRPr lang="en-US" dirty="0"/>
          </a:p>
        </p:txBody>
      </p:sp>
      <p:sp>
        <p:nvSpPr>
          <p:cNvPr id="4" name="Text Placeholder 3"/>
          <p:cNvSpPr>
            <a:spLocks noGrp="1"/>
          </p:cNvSpPr>
          <p:nvPr>
            <p:ph type="body" sz="half" idx="2"/>
          </p:nvPr>
        </p:nvSpPr>
        <p:spPr>
          <a:xfrm>
            <a:off x="1735780" y="10799922"/>
            <a:ext cx="8127648" cy="20008190"/>
          </a:xfrm>
        </p:spPr>
        <p:txBody>
          <a:bodyPr/>
          <a:lstStyle>
            <a:lvl1pPr marL="0" indent="0">
              <a:buNone/>
              <a:defRPr sz="4409"/>
            </a:lvl1pPr>
            <a:lvl2pPr marL="1259997" indent="0">
              <a:buNone/>
              <a:defRPr sz="3858"/>
            </a:lvl2pPr>
            <a:lvl3pPr marL="2519995" indent="0">
              <a:buNone/>
              <a:defRPr sz="3307"/>
            </a:lvl3pPr>
            <a:lvl4pPr marL="3779992" indent="0">
              <a:buNone/>
              <a:defRPr sz="2756"/>
            </a:lvl4pPr>
            <a:lvl5pPr marL="5039990" indent="0">
              <a:buNone/>
              <a:defRPr sz="2756"/>
            </a:lvl5pPr>
            <a:lvl6pPr marL="6299987" indent="0">
              <a:buNone/>
              <a:defRPr sz="2756"/>
            </a:lvl6pPr>
            <a:lvl7pPr marL="7559985" indent="0">
              <a:buNone/>
              <a:defRPr sz="2756"/>
            </a:lvl7pPr>
            <a:lvl8pPr marL="8819982" indent="0">
              <a:buNone/>
              <a:defRPr sz="2756"/>
            </a:lvl8pPr>
            <a:lvl9pPr marL="10079980" indent="0">
              <a:buNone/>
              <a:defRPr sz="2756"/>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26A0F428-1390-4148-B849-2AFD6277FE5F}" type="datetimeFigureOut">
              <a:rPr lang="tr-TR" smtClean="0"/>
              <a:t>21.01.2026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42B756D6-ED5B-4506-A9EF-9F1CCA24DCE7}" type="slidenum">
              <a:rPr lang="tr-TR" smtClean="0"/>
              <a:t>‹#›</a:t>
            </a:fld>
            <a:endParaRPr lang="tr-TR"/>
          </a:p>
        </p:txBody>
      </p:sp>
    </p:spTree>
    <p:extLst>
      <p:ext uri="{BB962C8B-B14F-4D97-AF65-F5344CB8AC3E}">
        <p14:creationId xmlns:p14="http://schemas.microsoft.com/office/powerpoint/2010/main" val="7710298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26A0F428-1390-4148-B849-2AFD6277FE5F}" type="datetimeFigureOut">
              <a:rPr lang="tr-TR" smtClean="0"/>
              <a:t>21.01.2026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42B756D6-ED5B-4506-A9EF-9F1CCA24DCE7}" type="slidenum">
              <a:rPr lang="tr-TR" smtClean="0"/>
              <a:t>‹#›</a:t>
            </a:fld>
            <a:endParaRPr lang="tr-TR"/>
          </a:p>
        </p:txBody>
      </p:sp>
    </p:spTree>
    <p:extLst>
      <p:ext uri="{BB962C8B-B14F-4D97-AF65-F5344CB8AC3E}">
        <p14:creationId xmlns:p14="http://schemas.microsoft.com/office/powerpoint/2010/main" val="2152886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8033733" y="1916653"/>
            <a:ext cx="5433745" cy="30508114"/>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1732500" y="1916653"/>
            <a:ext cx="15986234" cy="30508114"/>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26A0F428-1390-4148-B849-2AFD6277FE5F}" type="datetimeFigureOut">
              <a:rPr lang="tr-TR" smtClean="0"/>
              <a:t>21.01.2026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42B756D6-ED5B-4506-A9EF-9F1CCA24DCE7}" type="slidenum">
              <a:rPr lang="tr-TR" smtClean="0"/>
              <a:t>‹#›</a:t>
            </a:fld>
            <a:endParaRPr lang="tr-TR"/>
          </a:p>
        </p:txBody>
      </p:sp>
    </p:spTree>
    <p:extLst>
      <p:ext uri="{BB962C8B-B14F-4D97-AF65-F5344CB8AC3E}">
        <p14:creationId xmlns:p14="http://schemas.microsoft.com/office/powerpoint/2010/main" val="7221952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32499" y="1916661"/>
            <a:ext cx="21734978" cy="6958285"/>
          </a:xfrm>
          <a:prstGeom prst="rect">
            <a:avLst/>
          </a:prstGeom>
        </p:spPr>
        <p:txBody>
          <a:bodyPr vert="horz" lIns="91440" tIns="45720" rIns="91440" bIns="45720" rtlCol="0" anchor="ctr">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1732499" y="9583264"/>
            <a:ext cx="21734978" cy="22841503"/>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1732498" y="33366432"/>
            <a:ext cx="5669994" cy="1916653"/>
          </a:xfrm>
          <a:prstGeom prst="rect">
            <a:avLst/>
          </a:prstGeom>
        </p:spPr>
        <p:txBody>
          <a:bodyPr vert="horz" lIns="91440" tIns="45720" rIns="91440" bIns="45720" rtlCol="0" anchor="ctr"/>
          <a:lstStyle>
            <a:lvl1pPr algn="l">
              <a:defRPr sz="3307">
                <a:solidFill>
                  <a:schemeClr val="tx1">
                    <a:tint val="75000"/>
                  </a:schemeClr>
                </a:solidFill>
              </a:defRPr>
            </a:lvl1pPr>
          </a:lstStyle>
          <a:p>
            <a:fld id="{26A0F428-1390-4148-B849-2AFD6277FE5F}" type="datetimeFigureOut">
              <a:rPr lang="tr-TR" smtClean="0"/>
              <a:t>21.01.2026</a:t>
            </a:fld>
            <a:endParaRPr lang="tr-TR"/>
          </a:p>
        </p:txBody>
      </p:sp>
      <p:sp>
        <p:nvSpPr>
          <p:cNvPr id="5" name="Footer Placeholder 4"/>
          <p:cNvSpPr>
            <a:spLocks noGrp="1"/>
          </p:cNvSpPr>
          <p:nvPr>
            <p:ph type="ftr" sz="quarter" idx="3"/>
          </p:nvPr>
        </p:nvSpPr>
        <p:spPr>
          <a:xfrm>
            <a:off x="8347492" y="33366432"/>
            <a:ext cx="8504992" cy="1916653"/>
          </a:xfrm>
          <a:prstGeom prst="rect">
            <a:avLst/>
          </a:prstGeom>
        </p:spPr>
        <p:txBody>
          <a:bodyPr vert="horz" lIns="91440" tIns="45720" rIns="91440" bIns="45720" rtlCol="0" anchor="ctr"/>
          <a:lstStyle>
            <a:lvl1pPr algn="ctr">
              <a:defRPr sz="3307">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17797483" y="33366432"/>
            <a:ext cx="5669994" cy="1916653"/>
          </a:xfrm>
          <a:prstGeom prst="rect">
            <a:avLst/>
          </a:prstGeom>
        </p:spPr>
        <p:txBody>
          <a:bodyPr vert="horz" lIns="91440" tIns="45720" rIns="91440" bIns="45720" rtlCol="0" anchor="ctr"/>
          <a:lstStyle>
            <a:lvl1pPr algn="r">
              <a:defRPr sz="3307">
                <a:solidFill>
                  <a:schemeClr val="tx1">
                    <a:tint val="75000"/>
                  </a:schemeClr>
                </a:solidFill>
              </a:defRPr>
            </a:lvl1pPr>
          </a:lstStyle>
          <a:p>
            <a:fld id="{42B756D6-ED5B-4506-A9EF-9F1CCA24DCE7}" type="slidenum">
              <a:rPr lang="tr-TR" smtClean="0"/>
              <a:t>‹#›</a:t>
            </a:fld>
            <a:endParaRPr lang="tr-TR"/>
          </a:p>
        </p:txBody>
      </p:sp>
    </p:spTree>
    <p:extLst>
      <p:ext uri="{BB962C8B-B14F-4D97-AF65-F5344CB8AC3E}">
        <p14:creationId xmlns:p14="http://schemas.microsoft.com/office/powerpoint/2010/main" val="331026978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2519995" rtl="0" eaLnBrk="1" latinLnBrk="0" hangingPunct="1">
        <a:lnSpc>
          <a:spcPct val="90000"/>
        </a:lnSpc>
        <a:spcBef>
          <a:spcPct val="0"/>
        </a:spcBef>
        <a:buNone/>
        <a:defRPr sz="12126" kern="1200">
          <a:solidFill>
            <a:schemeClr val="tx1"/>
          </a:solidFill>
          <a:latin typeface="+mj-lt"/>
          <a:ea typeface="+mj-ea"/>
          <a:cs typeface="+mj-cs"/>
        </a:defRPr>
      </a:lvl1pPr>
    </p:titleStyle>
    <p:bodyStyle>
      <a:lvl1pPr marL="629999" indent="-629999" algn="l" defTabSz="2519995" rtl="0" eaLnBrk="1" latinLnBrk="0" hangingPunct="1">
        <a:lnSpc>
          <a:spcPct val="90000"/>
        </a:lnSpc>
        <a:spcBef>
          <a:spcPts val="2756"/>
        </a:spcBef>
        <a:buFont typeface="Arial" panose="020B0604020202020204" pitchFamily="34" charset="0"/>
        <a:buChar char="•"/>
        <a:defRPr sz="7717" kern="1200">
          <a:solidFill>
            <a:schemeClr val="tx1"/>
          </a:solidFill>
          <a:latin typeface="+mn-lt"/>
          <a:ea typeface="+mn-ea"/>
          <a:cs typeface="+mn-cs"/>
        </a:defRPr>
      </a:lvl1pPr>
      <a:lvl2pPr marL="1889996" indent="-629999" algn="l" defTabSz="2519995" rtl="0" eaLnBrk="1" latinLnBrk="0" hangingPunct="1">
        <a:lnSpc>
          <a:spcPct val="90000"/>
        </a:lnSpc>
        <a:spcBef>
          <a:spcPts val="1378"/>
        </a:spcBef>
        <a:buFont typeface="Arial" panose="020B0604020202020204" pitchFamily="34" charset="0"/>
        <a:buChar char="•"/>
        <a:defRPr sz="6614" kern="1200">
          <a:solidFill>
            <a:schemeClr val="tx1"/>
          </a:solidFill>
          <a:latin typeface="+mn-lt"/>
          <a:ea typeface="+mn-ea"/>
          <a:cs typeface="+mn-cs"/>
        </a:defRPr>
      </a:lvl2pPr>
      <a:lvl3pPr marL="3149994" indent="-629999" algn="l" defTabSz="2519995" rtl="0" eaLnBrk="1" latinLnBrk="0" hangingPunct="1">
        <a:lnSpc>
          <a:spcPct val="90000"/>
        </a:lnSpc>
        <a:spcBef>
          <a:spcPts val="1378"/>
        </a:spcBef>
        <a:buFont typeface="Arial" panose="020B0604020202020204" pitchFamily="34" charset="0"/>
        <a:buChar char="•"/>
        <a:defRPr sz="5512" kern="1200">
          <a:solidFill>
            <a:schemeClr val="tx1"/>
          </a:solidFill>
          <a:latin typeface="+mn-lt"/>
          <a:ea typeface="+mn-ea"/>
          <a:cs typeface="+mn-cs"/>
        </a:defRPr>
      </a:lvl3pPr>
      <a:lvl4pPr marL="4409991"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4pPr>
      <a:lvl5pPr marL="5669989"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5pPr>
      <a:lvl6pPr marL="6929986"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6pPr>
      <a:lvl7pPr marL="8189984"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7pPr>
      <a:lvl8pPr marL="9449981"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8pPr>
      <a:lvl9pPr marL="10709979"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9pPr>
    </p:bodyStyle>
    <p:otherStyle>
      <a:defPPr>
        <a:defRPr lang="en-US"/>
      </a:defPPr>
      <a:lvl1pPr marL="0" algn="l" defTabSz="2519995" rtl="0" eaLnBrk="1" latinLnBrk="0" hangingPunct="1">
        <a:defRPr sz="4961" kern="1200">
          <a:solidFill>
            <a:schemeClr val="tx1"/>
          </a:solidFill>
          <a:latin typeface="+mn-lt"/>
          <a:ea typeface="+mn-ea"/>
          <a:cs typeface="+mn-cs"/>
        </a:defRPr>
      </a:lvl1pPr>
      <a:lvl2pPr marL="1259997" algn="l" defTabSz="2519995" rtl="0" eaLnBrk="1" latinLnBrk="0" hangingPunct="1">
        <a:defRPr sz="4961" kern="1200">
          <a:solidFill>
            <a:schemeClr val="tx1"/>
          </a:solidFill>
          <a:latin typeface="+mn-lt"/>
          <a:ea typeface="+mn-ea"/>
          <a:cs typeface="+mn-cs"/>
        </a:defRPr>
      </a:lvl2pPr>
      <a:lvl3pPr marL="2519995" algn="l" defTabSz="2519995" rtl="0" eaLnBrk="1" latinLnBrk="0" hangingPunct="1">
        <a:defRPr sz="4961" kern="1200">
          <a:solidFill>
            <a:schemeClr val="tx1"/>
          </a:solidFill>
          <a:latin typeface="+mn-lt"/>
          <a:ea typeface="+mn-ea"/>
          <a:cs typeface="+mn-cs"/>
        </a:defRPr>
      </a:lvl3pPr>
      <a:lvl4pPr marL="3779992" algn="l" defTabSz="2519995" rtl="0" eaLnBrk="1" latinLnBrk="0" hangingPunct="1">
        <a:defRPr sz="4961" kern="1200">
          <a:solidFill>
            <a:schemeClr val="tx1"/>
          </a:solidFill>
          <a:latin typeface="+mn-lt"/>
          <a:ea typeface="+mn-ea"/>
          <a:cs typeface="+mn-cs"/>
        </a:defRPr>
      </a:lvl4pPr>
      <a:lvl5pPr marL="5039990" algn="l" defTabSz="2519995" rtl="0" eaLnBrk="1" latinLnBrk="0" hangingPunct="1">
        <a:defRPr sz="4961" kern="1200">
          <a:solidFill>
            <a:schemeClr val="tx1"/>
          </a:solidFill>
          <a:latin typeface="+mn-lt"/>
          <a:ea typeface="+mn-ea"/>
          <a:cs typeface="+mn-cs"/>
        </a:defRPr>
      </a:lvl5pPr>
      <a:lvl6pPr marL="6299987" algn="l" defTabSz="2519995" rtl="0" eaLnBrk="1" latinLnBrk="0" hangingPunct="1">
        <a:defRPr sz="4961" kern="1200">
          <a:solidFill>
            <a:schemeClr val="tx1"/>
          </a:solidFill>
          <a:latin typeface="+mn-lt"/>
          <a:ea typeface="+mn-ea"/>
          <a:cs typeface="+mn-cs"/>
        </a:defRPr>
      </a:lvl6pPr>
      <a:lvl7pPr marL="7559985" algn="l" defTabSz="2519995" rtl="0" eaLnBrk="1" latinLnBrk="0" hangingPunct="1">
        <a:defRPr sz="4961" kern="1200">
          <a:solidFill>
            <a:schemeClr val="tx1"/>
          </a:solidFill>
          <a:latin typeface="+mn-lt"/>
          <a:ea typeface="+mn-ea"/>
          <a:cs typeface="+mn-cs"/>
        </a:defRPr>
      </a:lvl7pPr>
      <a:lvl8pPr marL="8819982" algn="l" defTabSz="2519995" rtl="0" eaLnBrk="1" latinLnBrk="0" hangingPunct="1">
        <a:defRPr sz="4961" kern="1200">
          <a:solidFill>
            <a:schemeClr val="tx1"/>
          </a:solidFill>
          <a:latin typeface="+mn-lt"/>
          <a:ea typeface="+mn-ea"/>
          <a:cs typeface="+mn-cs"/>
        </a:defRPr>
      </a:lvl8pPr>
      <a:lvl9pPr marL="10079980" algn="l" defTabSz="2519995" rtl="0" eaLnBrk="1" latinLnBrk="0" hangingPunct="1">
        <a:defRPr sz="496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g"/><Relationship Id="rId13" Type="http://schemas.openxmlformats.org/officeDocument/2006/relationships/image" Target="../media/image12.JPG"/><Relationship Id="rId3" Type="http://schemas.openxmlformats.org/officeDocument/2006/relationships/image" Target="../media/image2.JPG"/><Relationship Id="rId7" Type="http://schemas.openxmlformats.org/officeDocument/2006/relationships/image" Target="../media/image6.JPG"/><Relationship Id="rId12" Type="http://schemas.openxmlformats.org/officeDocument/2006/relationships/image" Target="../media/image11.JP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JPG"/><Relationship Id="rId11" Type="http://schemas.openxmlformats.org/officeDocument/2006/relationships/image" Target="../media/image10.JPG"/><Relationship Id="rId5" Type="http://schemas.openxmlformats.org/officeDocument/2006/relationships/image" Target="../media/image4.JPG"/><Relationship Id="rId10" Type="http://schemas.openxmlformats.org/officeDocument/2006/relationships/image" Target="../media/image9.JPG"/><Relationship Id="rId4" Type="http://schemas.openxmlformats.org/officeDocument/2006/relationships/image" Target="../media/image3.JPG"/><Relationship Id="rId9" Type="http://schemas.openxmlformats.org/officeDocument/2006/relationships/image" Target="../media/image8.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Dikdörtgen 41"/>
          <p:cNvSpPr/>
          <p:nvPr/>
        </p:nvSpPr>
        <p:spPr>
          <a:xfrm>
            <a:off x="-3844631" y="-7603331"/>
            <a:ext cx="32399288" cy="512064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6000" dirty="0">
              <a:solidFill>
                <a:srgbClr val="000000"/>
              </a:solidFill>
            </a:endParaRPr>
          </a:p>
        </p:txBody>
      </p:sp>
      <p:sp>
        <p:nvSpPr>
          <p:cNvPr id="6" name="Rectangle 5"/>
          <p:cNvSpPr/>
          <p:nvPr/>
        </p:nvSpPr>
        <p:spPr>
          <a:xfrm>
            <a:off x="-2974015" y="-7330850"/>
            <a:ext cx="30817081" cy="5176277"/>
          </a:xfrm>
          <a:prstGeom prst="rect">
            <a:avLst/>
          </a:prstGeom>
          <a:solidFill>
            <a:schemeClr val="bg1"/>
          </a:solidFill>
          <a:ln w="3175">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49" name="Rectangle 48"/>
          <p:cNvSpPr/>
          <p:nvPr/>
        </p:nvSpPr>
        <p:spPr>
          <a:xfrm>
            <a:off x="3582012" y="-6673934"/>
            <a:ext cx="18035949" cy="375646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7200" b="1" dirty="0">
                <a:solidFill>
                  <a:srgbClr val="203864"/>
                </a:solidFill>
              </a:rPr>
              <a:t>YOL TUTUŞ ODAKLI ELEKTRİKLİ GO-KART</a:t>
            </a:r>
          </a:p>
          <a:p>
            <a:pPr algn="ctr"/>
            <a:r>
              <a:rPr lang="tr-TR" sz="7200" b="1" dirty="0">
                <a:solidFill>
                  <a:srgbClr val="203864"/>
                </a:solidFill>
              </a:rPr>
              <a:t>TASARIMI VE YAPISAL OPTİMİZASYONU</a:t>
            </a:r>
            <a:endParaRPr lang="tr-TR" sz="1000" b="1" dirty="0">
              <a:solidFill>
                <a:srgbClr val="203864"/>
              </a:solidFill>
            </a:endParaRPr>
          </a:p>
          <a:p>
            <a:pPr algn="ctr"/>
            <a:r>
              <a:rPr lang="tr-TR" sz="1400" b="1" dirty="0">
                <a:solidFill>
                  <a:srgbClr val="203864"/>
                </a:solidFill>
              </a:rPr>
              <a:t> </a:t>
            </a:r>
          </a:p>
          <a:p>
            <a:pPr algn="ctr"/>
            <a:r>
              <a:rPr lang="tr-TR" sz="4800" b="1" dirty="0">
                <a:solidFill>
                  <a:srgbClr val="203864"/>
                </a:solidFill>
              </a:rPr>
              <a:t>(Mekatronik Mühendisliği Tasarımı)</a:t>
            </a:r>
          </a:p>
        </p:txBody>
      </p:sp>
      <p:sp>
        <p:nvSpPr>
          <p:cNvPr id="53" name="Dikdörtgen 115"/>
          <p:cNvSpPr/>
          <p:nvPr/>
        </p:nvSpPr>
        <p:spPr>
          <a:xfrm>
            <a:off x="12905685" y="37085106"/>
            <a:ext cx="15015213" cy="401490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32</a:t>
            </a:r>
          </a:p>
        </p:txBody>
      </p:sp>
      <p:sp>
        <p:nvSpPr>
          <p:cNvPr id="55" name="Dikdörtgen 56"/>
          <p:cNvSpPr/>
          <p:nvPr/>
        </p:nvSpPr>
        <p:spPr>
          <a:xfrm>
            <a:off x="12852919" y="32159854"/>
            <a:ext cx="15032324" cy="378537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32</a:t>
            </a:r>
          </a:p>
        </p:txBody>
      </p:sp>
      <p:sp>
        <p:nvSpPr>
          <p:cNvPr id="56" name="Dikdörtgen 94"/>
          <p:cNvSpPr/>
          <p:nvPr/>
        </p:nvSpPr>
        <p:spPr>
          <a:xfrm>
            <a:off x="12875078" y="-884497"/>
            <a:ext cx="14967988" cy="46154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dirty="0"/>
              <a:t>3  2</a:t>
            </a:r>
          </a:p>
        </p:txBody>
      </p:sp>
      <p:sp>
        <p:nvSpPr>
          <p:cNvPr id="67" name="Dikdörtgen 83"/>
          <p:cNvSpPr/>
          <p:nvPr/>
        </p:nvSpPr>
        <p:spPr>
          <a:xfrm>
            <a:off x="-366693" y="9448247"/>
            <a:ext cx="6066796" cy="2123658"/>
          </a:xfrm>
          <a:prstGeom prst="rect">
            <a:avLst/>
          </a:prstGeom>
        </p:spPr>
        <p:txBody>
          <a:bodyPr wrap="square">
            <a:spAutoFit/>
          </a:bodyPr>
          <a:lstStyle/>
          <a:p>
            <a:pPr algn="just">
              <a:tabLst>
                <a:tab pos="228600" algn="l"/>
              </a:tabLst>
            </a:pPr>
            <a:r>
              <a:rPr lang="en-US" sz="6600" b="1" dirty="0">
                <a:solidFill>
                  <a:schemeClr val="bg1"/>
                </a:solidFill>
                <a:ea typeface="Times New Roman" panose="02020603050405020304" pitchFamily="18" charset="0"/>
              </a:rPr>
              <a:t>INTRODUCTION</a:t>
            </a:r>
            <a:r>
              <a:rPr lang="tr-TR" sz="6600" b="1" dirty="0" err="1">
                <a:solidFill>
                  <a:schemeClr val="bg1"/>
                </a:solidFill>
                <a:ea typeface="Times New Roman" panose="02020603050405020304" pitchFamily="18" charset="0"/>
              </a:rPr>
              <a:t>asd</a:t>
            </a:r>
            <a:endParaRPr lang="en-US" sz="6600" dirty="0">
              <a:solidFill>
                <a:schemeClr val="bg1"/>
              </a:solidFill>
              <a:ea typeface="Times New Roman" panose="02020603050405020304" pitchFamily="18" charset="0"/>
            </a:endParaRPr>
          </a:p>
        </p:txBody>
      </p:sp>
      <p:sp>
        <p:nvSpPr>
          <p:cNvPr id="62" name="Dikdörtgen 51"/>
          <p:cNvSpPr/>
          <p:nvPr/>
        </p:nvSpPr>
        <p:spPr>
          <a:xfrm>
            <a:off x="-2974014" y="152493"/>
            <a:ext cx="15329028" cy="1784737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32</a:t>
            </a:r>
          </a:p>
        </p:txBody>
      </p:sp>
      <p:sp>
        <p:nvSpPr>
          <p:cNvPr id="84" name="Dikdörtgen 115"/>
          <p:cNvSpPr/>
          <p:nvPr/>
        </p:nvSpPr>
        <p:spPr>
          <a:xfrm>
            <a:off x="-2974015" y="41294385"/>
            <a:ext cx="30919347" cy="144358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32</a:t>
            </a:r>
          </a:p>
        </p:txBody>
      </p:sp>
      <p:sp>
        <p:nvSpPr>
          <p:cNvPr id="11" name="TextBox 10"/>
          <p:cNvSpPr txBox="1"/>
          <p:nvPr/>
        </p:nvSpPr>
        <p:spPr>
          <a:xfrm>
            <a:off x="850451" y="19481752"/>
            <a:ext cx="5353372" cy="461665"/>
          </a:xfrm>
          <a:prstGeom prst="rect">
            <a:avLst/>
          </a:prstGeom>
          <a:noFill/>
        </p:spPr>
        <p:txBody>
          <a:bodyPr wrap="square" rtlCol="0">
            <a:spAutoFit/>
          </a:bodyPr>
          <a:lstStyle/>
          <a:p>
            <a:pPr algn="just"/>
            <a:r>
              <a:rPr lang="en-US" sz="2400" dirty="0"/>
              <a:t>     </a:t>
            </a:r>
            <a:endParaRPr lang="en-US" sz="2800" dirty="0"/>
          </a:p>
        </p:txBody>
      </p:sp>
      <p:sp>
        <p:nvSpPr>
          <p:cNvPr id="52" name="TextBox 51"/>
          <p:cNvSpPr txBox="1"/>
          <p:nvPr/>
        </p:nvSpPr>
        <p:spPr>
          <a:xfrm>
            <a:off x="13570114" y="18911630"/>
            <a:ext cx="10415289" cy="461665"/>
          </a:xfrm>
          <a:prstGeom prst="rect">
            <a:avLst/>
          </a:prstGeom>
          <a:noFill/>
        </p:spPr>
        <p:txBody>
          <a:bodyPr wrap="square" rtlCol="0">
            <a:spAutoFit/>
          </a:bodyPr>
          <a:lstStyle/>
          <a:p>
            <a:pPr algn="just"/>
            <a:r>
              <a:rPr lang="en-US" sz="2400" dirty="0"/>
              <a:t> </a:t>
            </a:r>
          </a:p>
        </p:txBody>
      </p:sp>
      <p:sp>
        <p:nvSpPr>
          <p:cNvPr id="59" name="Dikdörtgen 56"/>
          <p:cNvSpPr/>
          <p:nvPr/>
        </p:nvSpPr>
        <p:spPr>
          <a:xfrm>
            <a:off x="12823926" y="4932772"/>
            <a:ext cx="15001718" cy="2581328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32</a:t>
            </a:r>
          </a:p>
        </p:txBody>
      </p:sp>
      <p:sp>
        <p:nvSpPr>
          <p:cNvPr id="90" name="Dikdörtgen 94"/>
          <p:cNvSpPr/>
          <p:nvPr/>
        </p:nvSpPr>
        <p:spPr>
          <a:xfrm>
            <a:off x="-2974015" y="19481752"/>
            <a:ext cx="15329028" cy="2161825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dirty="0"/>
              <a:t>32</a:t>
            </a:r>
          </a:p>
        </p:txBody>
      </p:sp>
      <p:sp>
        <p:nvSpPr>
          <p:cNvPr id="3" name="Rectangle 2"/>
          <p:cNvSpPr/>
          <p:nvPr/>
        </p:nvSpPr>
        <p:spPr>
          <a:xfrm>
            <a:off x="5383362" y="33228759"/>
            <a:ext cx="6428363" cy="830997"/>
          </a:xfrm>
          <a:prstGeom prst="rect">
            <a:avLst/>
          </a:prstGeom>
        </p:spPr>
        <p:txBody>
          <a:bodyPr wrap="none">
            <a:spAutoFit/>
          </a:bodyPr>
          <a:lstStyle/>
          <a:p>
            <a:r>
              <a:rPr lang="en-US" sz="4800" b="1" dirty="0">
                <a:solidFill>
                  <a:schemeClr val="bg1"/>
                </a:solidFill>
                <a:ea typeface="Times New Roman" panose="02020603050405020304" pitchFamily="18" charset="0"/>
              </a:rPr>
              <a:t>MATERIALS &amp; METHODS</a:t>
            </a:r>
            <a:endParaRPr lang="en-US" sz="4800" dirty="0"/>
          </a:p>
        </p:txBody>
      </p:sp>
      <p:sp>
        <p:nvSpPr>
          <p:cNvPr id="81" name="Rectangle 80"/>
          <p:cNvSpPr/>
          <p:nvPr/>
        </p:nvSpPr>
        <p:spPr>
          <a:xfrm>
            <a:off x="-2974502" y="-1960198"/>
            <a:ext cx="30657082" cy="830997"/>
          </a:xfrm>
          <a:prstGeom prst="rect">
            <a:avLst/>
          </a:prstGeom>
        </p:spPr>
        <p:txBody>
          <a:bodyPr wrap="square">
            <a:spAutoFit/>
          </a:bodyPr>
          <a:lstStyle/>
          <a:p>
            <a:r>
              <a:rPr lang="tr-TR" sz="4800" b="1" dirty="0">
                <a:solidFill>
                  <a:srgbClr val="203864"/>
                </a:solidFill>
                <a:latin typeface="Calibri" panose="020F0502020204030204" pitchFamily="34" charset="0"/>
                <a:ea typeface="Calibri" panose="020F0502020204030204" pitchFamily="34" charset="0"/>
                <a:cs typeface="Calibri" panose="020F0502020204030204" pitchFamily="34" charset="0"/>
              </a:rPr>
              <a:t>Erdoğan KIR																																									   					        Doç. Dr. Gökhan ATALI</a:t>
            </a:r>
            <a:endParaRPr lang="tr-TR" sz="3200" dirty="0">
              <a:latin typeface="Calibri" panose="020F0502020204030204" pitchFamily="34" charset="0"/>
              <a:ea typeface="Calibri" panose="020F0502020204030204" pitchFamily="34" charset="0"/>
              <a:cs typeface="Arial" panose="020B0604020202020204" pitchFamily="34" charset="0"/>
            </a:endParaRPr>
          </a:p>
        </p:txBody>
      </p:sp>
      <p:sp>
        <p:nvSpPr>
          <p:cNvPr id="18" name="TextBox 3">
            <a:extLst>
              <a:ext uri="{FF2B5EF4-FFF2-40B4-BE49-F238E27FC236}">
                <a16:creationId xmlns:a16="http://schemas.microsoft.com/office/drawing/2014/main" id="{0D6F2BE2-3DFD-BBBE-9940-C56EF6B62E7C}"/>
              </a:ext>
            </a:extLst>
          </p:cNvPr>
          <p:cNvSpPr txBox="1"/>
          <p:nvPr/>
        </p:nvSpPr>
        <p:spPr>
          <a:xfrm>
            <a:off x="-2509258" y="471279"/>
            <a:ext cx="14320984" cy="8894743"/>
          </a:xfrm>
          <a:prstGeom prst="rect">
            <a:avLst/>
          </a:prstGeom>
          <a:noFill/>
        </p:spPr>
        <p:txBody>
          <a:bodyPr wrap="square" rtlCol="0">
            <a:spAutoFit/>
          </a:bodyPr>
          <a:lstStyle/>
          <a:p>
            <a:pPr algn="just"/>
            <a:r>
              <a:rPr lang="tr-TR" sz="2600" dirty="0"/>
              <a:t>Otomotiv endüstrisindeki radikal elektrifikasyon dönüşümü, motor sporlarının giriş seviyesi ve en saf hali olarak kabul edilen </a:t>
            </a:r>
            <a:r>
              <a:rPr lang="tr-TR" sz="2600" dirty="0" err="1"/>
              <a:t>karting</a:t>
            </a:r>
            <a:r>
              <a:rPr lang="tr-TR" sz="2600" dirty="0"/>
              <a:t> disiplinini de yeniden şekillendirmektedir. Özellikle kapalı alan (</a:t>
            </a:r>
            <a:r>
              <a:rPr lang="tr-TR" sz="2600" dirty="0" err="1"/>
              <a:t>indoor</a:t>
            </a:r>
            <a:r>
              <a:rPr lang="tr-TR" sz="2600" dirty="0"/>
              <a:t>) pistlerinde egzoz emisyonlarının yarattığı sağlık riskleri ve havalandırma maliyetleri, elektrikli tahrik sistemlerine olan talebi artırmıştır. Ayrıca, Fırçasız DC (BLDC) motorların içten yanmalı motorlara kıyasla sıfır devirden itibaren sunduğu maksimum tork avantajı, teorik olarak viraj çıkışlarında üstün bir ivmelenme performansı vadetmektedir. Ancak geleneksel </a:t>
            </a:r>
            <a:r>
              <a:rPr lang="tr-TR" sz="2600" dirty="0" err="1"/>
              <a:t>go</a:t>
            </a:r>
            <a:r>
              <a:rPr lang="tr-TR" sz="2600" dirty="0"/>
              <a:t>-kart araçlarının süspansiyonsuz yapısı, yol tutuş karakteristiğini doğrudan şasinin burulma rijitliğine (</a:t>
            </a:r>
            <a:r>
              <a:rPr lang="tr-TR" sz="2600" dirty="0" err="1"/>
              <a:t>torsional</a:t>
            </a:r>
            <a:r>
              <a:rPr lang="tr-TR" sz="2600" dirty="0"/>
              <a:t> </a:t>
            </a:r>
            <a:r>
              <a:rPr lang="tr-TR" sz="2600" dirty="0" err="1"/>
              <a:t>rigidity</a:t>
            </a:r>
            <a:r>
              <a:rPr lang="tr-TR" sz="2600" dirty="0"/>
              <a:t>) ve esnekliğine bağımlı kılmaktadır.</a:t>
            </a:r>
          </a:p>
          <a:p>
            <a:pPr algn="just"/>
            <a:endParaRPr lang="tr-TR" sz="2600" dirty="0"/>
          </a:p>
          <a:p>
            <a:pPr algn="just"/>
            <a:r>
              <a:rPr lang="tr-TR" sz="2600" dirty="0"/>
              <a:t>Bu çalışmadaki temel mühendislik problemi; elektrikli araç mimarisinin kaçınılmaz bir sonucu olan ağır batarya paketlerinin şasiye entegrasyonudur. Bu ek ağırlık, şasinin doğal frekansını ve esneklik merkezini değiştirerek, viraj performansı için hayati önem taşıyan "</a:t>
            </a:r>
            <a:r>
              <a:rPr lang="tr-TR" sz="2600" dirty="0" err="1"/>
              <a:t>Jacking</a:t>
            </a:r>
            <a:r>
              <a:rPr lang="tr-TR" sz="2600" dirty="0"/>
              <a:t> </a:t>
            </a:r>
            <a:r>
              <a:rPr lang="tr-TR" sz="2600" dirty="0" err="1"/>
              <a:t>Effect</a:t>
            </a:r>
            <a:r>
              <a:rPr lang="tr-TR" sz="2600" dirty="0"/>
              <a:t>" (viraj içi arka tekerleğin yerden kesilerek diferansiyel etkisi yaratılması) mekanizmasını bozma riski taşımaktadır. Şasinin gereğinden fazla rijit olması durumunda araç virajı dönemeyerek önden kayma (</a:t>
            </a:r>
            <a:r>
              <a:rPr lang="tr-TR" sz="2600" dirty="0" err="1"/>
              <a:t>understeer</a:t>
            </a:r>
            <a:r>
              <a:rPr lang="tr-TR" sz="2600" dirty="0"/>
              <a:t>) eğilimi gösterirken; aşırı esnek olması durumunda ise enerji sönümlenmesi nedeniyle direksiyon tepkileri gecikmektedir.</a:t>
            </a:r>
          </a:p>
          <a:p>
            <a:pPr algn="just"/>
            <a:endParaRPr lang="tr-TR" sz="2600" dirty="0"/>
          </a:p>
          <a:p>
            <a:pPr algn="just"/>
            <a:r>
              <a:rPr lang="tr-TR" sz="2600" dirty="0"/>
              <a:t>Bu bağlamda proje, literatürde kabul görmüş </a:t>
            </a:r>
            <a:r>
              <a:rPr lang="tr-TR" sz="2600" dirty="0" err="1"/>
              <a:t>Gillespie</a:t>
            </a:r>
            <a:r>
              <a:rPr lang="tr-TR" sz="2600" dirty="0"/>
              <a:t> (1992) araç dinamiği teorisi ve </a:t>
            </a:r>
            <a:r>
              <a:rPr lang="tr-TR" sz="2600" dirty="0" err="1"/>
              <a:t>Mihalić</a:t>
            </a:r>
            <a:r>
              <a:rPr lang="tr-TR" sz="2600" dirty="0"/>
              <a:t> ve ark. (2023) tarafından geliştirilen elektrikli şasi konsepti referans alınarak kurgulanmıştır. Çalışmanın nihai hedefi; S355 yapı çeliği ve yerel üretim imkanları (boru büküm, kaynaklı birleştirme) kullanılarak, batarya ağırlık dağılımının optimize edildiği, viraj içi frenleme ve dinamik yük senaryoları altında yapısal bütünlüğünü koruyan, maliyet etkin ve performanslı bir elektrikli </a:t>
            </a:r>
            <a:r>
              <a:rPr lang="tr-TR" sz="2600" dirty="0" err="1"/>
              <a:t>go</a:t>
            </a:r>
            <a:r>
              <a:rPr lang="tr-TR" sz="2600" dirty="0"/>
              <a:t>-kart platformu tasarlamaktır.</a:t>
            </a:r>
          </a:p>
          <a:p>
            <a:pPr algn="just"/>
            <a:endParaRPr lang="tr-TR" sz="2600" dirty="0"/>
          </a:p>
        </p:txBody>
      </p:sp>
      <p:grpSp>
        <p:nvGrpSpPr>
          <p:cNvPr id="8" name="Group 64">
            <a:extLst>
              <a:ext uri="{FF2B5EF4-FFF2-40B4-BE49-F238E27FC236}">
                <a16:creationId xmlns:a16="http://schemas.microsoft.com/office/drawing/2014/main" id="{45FA48A6-B6ED-4CCE-EA13-B81FF4F5E043}"/>
              </a:ext>
            </a:extLst>
          </p:cNvPr>
          <p:cNvGrpSpPr/>
          <p:nvPr/>
        </p:nvGrpSpPr>
        <p:grpSpPr>
          <a:xfrm>
            <a:off x="-2974502" y="-863169"/>
            <a:ext cx="15470575" cy="870077"/>
            <a:chOff x="731694" y="6467777"/>
            <a:chExt cx="11702818" cy="870077"/>
          </a:xfrm>
        </p:grpSpPr>
        <p:sp>
          <p:nvSpPr>
            <p:cNvPr id="16" name="Aynı Yanın Köşesi Yuvarlatılmış Dikdörtgen 60">
              <a:extLst>
                <a:ext uri="{FF2B5EF4-FFF2-40B4-BE49-F238E27FC236}">
                  <a16:creationId xmlns:a16="http://schemas.microsoft.com/office/drawing/2014/main" id="{BE34F03C-2790-3AA2-FAED-169177758C38}"/>
                </a:ext>
              </a:extLst>
            </p:cNvPr>
            <p:cNvSpPr/>
            <p:nvPr/>
          </p:nvSpPr>
          <p:spPr>
            <a:xfrm flipV="1">
              <a:off x="734512" y="6467777"/>
              <a:ext cx="11700000" cy="626971"/>
            </a:xfrm>
            <a:prstGeom prst="round2SameRect">
              <a:avLst>
                <a:gd name="adj1" fmla="val 50000"/>
                <a:gd name="adj2" fmla="val 0"/>
              </a:avLst>
            </a:prstGeom>
            <a:solidFill>
              <a:srgbClr val="2038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Aynı Yanın Köşesi Yuvarlatılmış Dikdörtgen 44">
              <a:extLst>
                <a:ext uri="{FF2B5EF4-FFF2-40B4-BE49-F238E27FC236}">
                  <a16:creationId xmlns:a16="http://schemas.microsoft.com/office/drawing/2014/main" id="{2BD210DC-8A96-198C-15A2-D999EADA6703}"/>
                </a:ext>
              </a:extLst>
            </p:cNvPr>
            <p:cNvSpPr/>
            <p:nvPr/>
          </p:nvSpPr>
          <p:spPr>
            <a:xfrm flipV="1">
              <a:off x="731694" y="6472700"/>
              <a:ext cx="4935752" cy="865154"/>
            </a:xfrm>
            <a:prstGeom prst="round2SameRect">
              <a:avLst>
                <a:gd name="adj1" fmla="val 50000"/>
                <a:gd name="adj2" fmla="val 0"/>
              </a:avLst>
            </a:prstGeom>
            <a:solidFill>
              <a:srgbClr val="203864"/>
            </a:solidFill>
            <a:ln>
              <a:noFill/>
            </a:ln>
            <a:effectLst>
              <a:outerShdw blurRad="50800" dist="50800" dir="5400000" algn="ctr" rotWithShape="0">
                <a:schemeClr val="accent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1" name="Group 64">
            <a:extLst>
              <a:ext uri="{FF2B5EF4-FFF2-40B4-BE49-F238E27FC236}">
                <a16:creationId xmlns:a16="http://schemas.microsoft.com/office/drawing/2014/main" id="{11E23FEB-49B6-1116-5B34-8F8624127F20}"/>
              </a:ext>
            </a:extLst>
          </p:cNvPr>
          <p:cNvGrpSpPr/>
          <p:nvPr/>
        </p:nvGrpSpPr>
        <p:grpSpPr>
          <a:xfrm>
            <a:off x="-2974502" y="18514487"/>
            <a:ext cx="15371870" cy="870077"/>
            <a:chOff x="731693" y="6467777"/>
            <a:chExt cx="11702819" cy="870077"/>
          </a:xfrm>
        </p:grpSpPr>
        <p:sp>
          <p:nvSpPr>
            <p:cNvPr id="22" name="Aynı Yanın Köşesi Yuvarlatılmış Dikdörtgen 60">
              <a:extLst>
                <a:ext uri="{FF2B5EF4-FFF2-40B4-BE49-F238E27FC236}">
                  <a16:creationId xmlns:a16="http://schemas.microsoft.com/office/drawing/2014/main" id="{844A9EC1-5A0B-2832-198E-5616D224565E}"/>
                </a:ext>
              </a:extLst>
            </p:cNvPr>
            <p:cNvSpPr/>
            <p:nvPr/>
          </p:nvSpPr>
          <p:spPr>
            <a:xfrm flipV="1">
              <a:off x="734512" y="6467777"/>
              <a:ext cx="11700000" cy="626971"/>
            </a:xfrm>
            <a:prstGeom prst="round2SameRect">
              <a:avLst>
                <a:gd name="adj1" fmla="val 50000"/>
                <a:gd name="adj2" fmla="val 0"/>
              </a:avLst>
            </a:prstGeom>
            <a:solidFill>
              <a:srgbClr val="2038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Aynı Yanın Köşesi Yuvarlatılmış Dikdörtgen 44">
              <a:extLst>
                <a:ext uri="{FF2B5EF4-FFF2-40B4-BE49-F238E27FC236}">
                  <a16:creationId xmlns:a16="http://schemas.microsoft.com/office/drawing/2014/main" id="{2E005D33-4323-63F4-4D8D-E41D60D5AA00}"/>
                </a:ext>
              </a:extLst>
            </p:cNvPr>
            <p:cNvSpPr/>
            <p:nvPr/>
          </p:nvSpPr>
          <p:spPr>
            <a:xfrm flipV="1">
              <a:off x="731693" y="6472700"/>
              <a:ext cx="6838742" cy="865154"/>
            </a:xfrm>
            <a:prstGeom prst="round2SameRect">
              <a:avLst>
                <a:gd name="adj1" fmla="val 50000"/>
                <a:gd name="adj2" fmla="val 0"/>
              </a:avLst>
            </a:prstGeom>
            <a:solidFill>
              <a:srgbClr val="203864"/>
            </a:solidFill>
            <a:ln>
              <a:noFill/>
            </a:ln>
            <a:effectLst>
              <a:outerShdw blurRad="50800" dist="50800" dir="5400000" algn="ctr" rotWithShape="0">
                <a:schemeClr val="accent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7" name="Dikdörtgen 16">
            <a:extLst>
              <a:ext uri="{FF2B5EF4-FFF2-40B4-BE49-F238E27FC236}">
                <a16:creationId xmlns:a16="http://schemas.microsoft.com/office/drawing/2014/main" id="{4DA6A44B-47B8-16CE-F5D4-DC7E65025C28}"/>
              </a:ext>
            </a:extLst>
          </p:cNvPr>
          <p:cNvSpPr/>
          <p:nvPr/>
        </p:nvSpPr>
        <p:spPr>
          <a:xfrm>
            <a:off x="-2542059" y="18417494"/>
            <a:ext cx="7283597" cy="1015663"/>
          </a:xfrm>
          <a:prstGeom prst="rect">
            <a:avLst/>
          </a:prstGeom>
        </p:spPr>
        <p:txBody>
          <a:bodyPr wrap="none">
            <a:spAutoFit/>
          </a:bodyPr>
          <a:lstStyle/>
          <a:p>
            <a:r>
              <a:rPr lang="en-US" sz="6000" b="1" dirty="0">
                <a:solidFill>
                  <a:schemeClr val="bg1"/>
                </a:solidFill>
                <a:ea typeface="Times New Roman" panose="02020603050405020304" pitchFamily="18" charset="0"/>
              </a:rPr>
              <a:t>MATER</a:t>
            </a:r>
            <a:r>
              <a:rPr lang="tr-TR" sz="6000" b="1" dirty="0">
                <a:solidFill>
                  <a:schemeClr val="bg1"/>
                </a:solidFill>
                <a:ea typeface="Times New Roman" panose="02020603050405020304" pitchFamily="18" charset="0"/>
              </a:rPr>
              <a:t>YAL</a:t>
            </a:r>
            <a:r>
              <a:rPr lang="en-US" sz="6000" b="1" dirty="0">
                <a:solidFill>
                  <a:schemeClr val="bg1"/>
                </a:solidFill>
                <a:ea typeface="Times New Roman" panose="02020603050405020304" pitchFamily="18" charset="0"/>
              </a:rPr>
              <a:t> &amp; </a:t>
            </a:r>
            <a:r>
              <a:rPr lang="tr-TR" sz="6000" b="1" dirty="0">
                <a:solidFill>
                  <a:schemeClr val="bg1"/>
                </a:solidFill>
                <a:ea typeface="Times New Roman" panose="02020603050405020304" pitchFamily="18" charset="0"/>
              </a:rPr>
              <a:t>YÖNTEM</a:t>
            </a:r>
            <a:endParaRPr lang="en-US" sz="6000" dirty="0"/>
          </a:p>
        </p:txBody>
      </p:sp>
      <p:grpSp>
        <p:nvGrpSpPr>
          <p:cNvPr id="30" name="Group 64">
            <a:extLst>
              <a:ext uri="{FF2B5EF4-FFF2-40B4-BE49-F238E27FC236}">
                <a16:creationId xmlns:a16="http://schemas.microsoft.com/office/drawing/2014/main" id="{82A9798D-28BA-2EEC-6167-51FF06EBD622}"/>
              </a:ext>
            </a:extLst>
          </p:cNvPr>
          <p:cNvGrpSpPr/>
          <p:nvPr/>
        </p:nvGrpSpPr>
        <p:grpSpPr>
          <a:xfrm>
            <a:off x="12804316" y="4083130"/>
            <a:ext cx="15005333" cy="870077"/>
            <a:chOff x="731693" y="6467777"/>
            <a:chExt cx="11702819" cy="870077"/>
          </a:xfrm>
        </p:grpSpPr>
        <p:sp>
          <p:nvSpPr>
            <p:cNvPr id="32" name="Aynı Yanın Köşesi Yuvarlatılmış Dikdörtgen 60">
              <a:extLst>
                <a:ext uri="{FF2B5EF4-FFF2-40B4-BE49-F238E27FC236}">
                  <a16:creationId xmlns:a16="http://schemas.microsoft.com/office/drawing/2014/main" id="{C4414CFC-AF85-0336-E659-5D40D9B96609}"/>
                </a:ext>
              </a:extLst>
            </p:cNvPr>
            <p:cNvSpPr/>
            <p:nvPr/>
          </p:nvSpPr>
          <p:spPr>
            <a:xfrm flipV="1">
              <a:off x="734512" y="6467777"/>
              <a:ext cx="11700000" cy="626971"/>
            </a:xfrm>
            <a:prstGeom prst="round2SameRect">
              <a:avLst>
                <a:gd name="adj1" fmla="val 50000"/>
                <a:gd name="adj2" fmla="val 0"/>
              </a:avLst>
            </a:prstGeom>
            <a:solidFill>
              <a:srgbClr val="2038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Aynı Yanın Köşesi Yuvarlatılmış Dikdörtgen 44">
              <a:extLst>
                <a:ext uri="{FF2B5EF4-FFF2-40B4-BE49-F238E27FC236}">
                  <a16:creationId xmlns:a16="http://schemas.microsoft.com/office/drawing/2014/main" id="{3C430DCE-489E-FF9D-8A04-5860F289BEFF}"/>
                </a:ext>
              </a:extLst>
            </p:cNvPr>
            <p:cNvSpPr/>
            <p:nvPr/>
          </p:nvSpPr>
          <p:spPr>
            <a:xfrm flipV="1">
              <a:off x="731693" y="6472700"/>
              <a:ext cx="6524729" cy="865154"/>
            </a:xfrm>
            <a:prstGeom prst="round2SameRect">
              <a:avLst>
                <a:gd name="adj1" fmla="val 50000"/>
                <a:gd name="adj2" fmla="val 0"/>
              </a:avLst>
            </a:prstGeom>
            <a:solidFill>
              <a:srgbClr val="203864"/>
            </a:solidFill>
            <a:ln>
              <a:noFill/>
            </a:ln>
            <a:effectLst>
              <a:outerShdw blurRad="50800" dist="50800" dir="5400000" algn="ctr" rotWithShape="0">
                <a:schemeClr val="accent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5" name="Dikdörtgen 16">
            <a:extLst>
              <a:ext uri="{FF2B5EF4-FFF2-40B4-BE49-F238E27FC236}">
                <a16:creationId xmlns:a16="http://schemas.microsoft.com/office/drawing/2014/main" id="{8CC4EDED-E26F-C99E-3267-F26E2BFBAB21}"/>
              </a:ext>
            </a:extLst>
          </p:cNvPr>
          <p:cNvSpPr/>
          <p:nvPr/>
        </p:nvSpPr>
        <p:spPr>
          <a:xfrm>
            <a:off x="13631640" y="3988968"/>
            <a:ext cx="6679393" cy="1015663"/>
          </a:xfrm>
          <a:prstGeom prst="rect">
            <a:avLst/>
          </a:prstGeom>
        </p:spPr>
        <p:txBody>
          <a:bodyPr wrap="none">
            <a:spAutoFit/>
          </a:bodyPr>
          <a:lstStyle/>
          <a:p>
            <a:pPr algn="just">
              <a:tabLst>
                <a:tab pos="228600" algn="l"/>
              </a:tabLst>
            </a:pPr>
            <a:r>
              <a:rPr lang="tr-TR" sz="6000" b="1" dirty="0">
                <a:solidFill>
                  <a:schemeClr val="bg1"/>
                </a:solidFill>
                <a:ea typeface="Times New Roman" panose="02020603050405020304" pitchFamily="18" charset="0"/>
              </a:rPr>
              <a:t>SONUÇ &amp; TARTIŞMA</a:t>
            </a:r>
            <a:endParaRPr lang="en-US" sz="6000" dirty="0">
              <a:solidFill>
                <a:schemeClr val="bg1"/>
              </a:solidFill>
              <a:ea typeface="Times New Roman" panose="02020603050405020304" pitchFamily="18" charset="0"/>
            </a:endParaRPr>
          </a:p>
        </p:txBody>
      </p:sp>
      <p:grpSp>
        <p:nvGrpSpPr>
          <p:cNvPr id="36" name="Group 64">
            <a:extLst>
              <a:ext uri="{FF2B5EF4-FFF2-40B4-BE49-F238E27FC236}">
                <a16:creationId xmlns:a16="http://schemas.microsoft.com/office/drawing/2014/main" id="{BEF828A4-A7F2-2079-5D86-BDEA120B8532}"/>
              </a:ext>
            </a:extLst>
          </p:cNvPr>
          <p:cNvGrpSpPr/>
          <p:nvPr/>
        </p:nvGrpSpPr>
        <p:grpSpPr>
          <a:xfrm>
            <a:off x="12875078" y="31162006"/>
            <a:ext cx="15032324" cy="870077"/>
            <a:chOff x="731693" y="6467777"/>
            <a:chExt cx="11702819" cy="870077"/>
          </a:xfrm>
        </p:grpSpPr>
        <p:sp>
          <p:nvSpPr>
            <p:cNvPr id="37" name="Aynı Yanın Köşesi Yuvarlatılmış Dikdörtgen 60">
              <a:extLst>
                <a:ext uri="{FF2B5EF4-FFF2-40B4-BE49-F238E27FC236}">
                  <a16:creationId xmlns:a16="http://schemas.microsoft.com/office/drawing/2014/main" id="{7E4C24D6-82DD-2BBA-3B58-102C8F296A7E}"/>
                </a:ext>
              </a:extLst>
            </p:cNvPr>
            <p:cNvSpPr/>
            <p:nvPr/>
          </p:nvSpPr>
          <p:spPr>
            <a:xfrm flipV="1">
              <a:off x="734512" y="6467777"/>
              <a:ext cx="11700000" cy="626971"/>
            </a:xfrm>
            <a:prstGeom prst="round2SameRect">
              <a:avLst>
                <a:gd name="adj1" fmla="val 50000"/>
                <a:gd name="adj2" fmla="val 0"/>
              </a:avLst>
            </a:prstGeom>
            <a:solidFill>
              <a:srgbClr val="2038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Aynı Yanın Köşesi Yuvarlatılmış Dikdörtgen 44">
              <a:extLst>
                <a:ext uri="{FF2B5EF4-FFF2-40B4-BE49-F238E27FC236}">
                  <a16:creationId xmlns:a16="http://schemas.microsoft.com/office/drawing/2014/main" id="{D9B712A2-D043-016C-0574-70D4EE8BF006}"/>
                </a:ext>
              </a:extLst>
            </p:cNvPr>
            <p:cNvSpPr/>
            <p:nvPr/>
          </p:nvSpPr>
          <p:spPr>
            <a:xfrm flipV="1">
              <a:off x="731693" y="6472700"/>
              <a:ext cx="4890883" cy="865154"/>
            </a:xfrm>
            <a:prstGeom prst="round2SameRect">
              <a:avLst>
                <a:gd name="adj1" fmla="val 50000"/>
                <a:gd name="adj2" fmla="val 0"/>
              </a:avLst>
            </a:prstGeom>
            <a:solidFill>
              <a:srgbClr val="203864"/>
            </a:solidFill>
            <a:ln>
              <a:noFill/>
            </a:ln>
            <a:effectLst>
              <a:outerShdw blurRad="50800" dist="50800" dir="5400000" algn="ctr" rotWithShape="0">
                <a:schemeClr val="accent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9" name="Dikdörtgen 16">
            <a:extLst>
              <a:ext uri="{FF2B5EF4-FFF2-40B4-BE49-F238E27FC236}">
                <a16:creationId xmlns:a16="http://schemas.microsoft.com/office/drawing/2014/main" id="{3F4DACAF-C489-4844-D531-0AA85D2AE761}"/>
              </a:ext>
            </a:extLst>
          </p:cNvPr>
          <p:cNvSpPr/>
          <p:nvPr/>
        </p:nvSpPr>
        <p:spPr>
          <a:xfrm>
            <a:off x="14120224" y="31055091"/>
            <a:ext cx="3358612" cy="1015663"/>
          </a:xfrm>
          <a:prstGeom prst="rect">
            <a:avLst/>
          </a:prstGeom>
        </p:spPr>
        <p:txBody>
          <a:bodyPr wrap="none">
            <a:spAutoFit/>
          </a:bodyPr>
          <a:lstStyle/>
          <a:p>
            <a:pPr algn="just">
              <a:tabLst>
                <a:tab pos="228600" algn="l"/>
              </a:tabLst>
            </a:pPr>
            <a:r>
              <a:rPr lang="tr-TR" sz="6000" b="1" dirty="0">
                <a:solidFill>
                  <a:schemeClr val="bg1"/>
                </a:solidFill>
                <a:ea typeface="Times New Roman" panose="02020603050405020304" pitchFamily="18" charset="0"/>
              </a:rPr>
              <a:t>ÖNERİLER</a:t>
            </a:r>
            <a:endParaRPr lang="en-US" sz="6000" dirty="0">
              <a:solidFill>
                <a:schemeClr val="bg1"/>
              </a:solidFill>
              <a:ea typeface="Times New Roman" panose="02020603050405020304" pitchFamily="18" charset="0"/>
            </a:endParaRPr>
          </a:p>
        </p:txBody>
      </p:sp>
      <p:grpSp>
        <p:nvGrpSpPr>
          <p:cNvPr id="40" name="Group 64">
            <a:extLst>
              <a:ext uri="{FF2B5EF4-FFF2-40B4-BE49-F238E27FC236}">
                <a16:creationId xmlns:a16="http://schemas.microsoft.com/office/drawing/2014/main" id="{F8F96EDB-F613-F103-4F28-6D79454DCFE3}"/>
              </a:ext>
            </a:extLst>
          </p:cNvPr>
          <p:cNvGrpSpPr/>
          <p:nvPr/>
        </p:nvGrpSpPr>
        <p:grpSpPr>
          <a:xfrm>
            <a:off x="12875078" y="36120250"/>
            <a:ext cx="15028703" cy="876258"/>
            <a:chOff x="721190" y="6768225"/>
            <a:chExt cx="11700000" cy="876258"/>
          </a:xfrm>
        </p:grpSpPr>
        <p:sp>
          <p:nvSpPr>
            <p:cNvPr id="41" name="Aynı Yanın Köşesi Yuvarlatılmış Dikdörtgen 60">
              <a:extLst>
                <a:ext uri="{FF2B5EF4-FFF2-40B4-BE49-F238E27FC236}">
                  <a16:creationId xmlns:a16="http://schemas.microsoft.com/office/drawing/2014/main" id="{F00A91CA-CBA6-B05B-BF4B-1285D8428E4A}"/>
                </a:ext>
              </a:extLst>
            </p:cNvPr>
            <p:cNvSpPr/>
            <p:nvPr/>
          </p:nvSpPr>
          <p:spPr>
            <a:xfrm flipV="1">
              <a:off x="721190" y="6768225"/>
              <a:ext cx="11700000" cy="626971"/>
            </a:xfrm>
            <a:prstGeom prst="round2SameRect">
              <a:avLst>
                <a:gd name="adj1" fmla="val 50000"/>
                <a:gd name="adj2" fmla="val 0"/>
              </a:avLst>
            </a:prstGeom>
            <a:solidFill>
              <a:srgbClr val="2038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Aynı Yanın Köşesi Yuvarlatılmış Dikdörtgen 44">
              <a:extLst>
                <a:ext uri="{FF2B5EF4-FFF2-40B4-BE49-F238E27FC236}">
                  <a16:creationId xmlns:a16="http://schemas.microsoft.com/office/drawing/2014/main" id="{BF349E0D-7176-0C85-A4D1-084CD5553960}"/>
                </a:ext>
              </a:extLst>
            </p:cNvPr>
            <p:cNvSpPr/>
            <p:nvPr/>
          </p:nvSpPr>
          <p:spPr>
            <a:xfrm flipV="1">
              <a:off x="731692" y="6779329"/>
              <a:ext cx="4066459" cy="865154"/>
            </a:xfrm>
            <a:prstGeom prst="round2SameRect">
              <a:avLst>
                <a:gd name="adj1" fmla="val 50000"/>
                <a:gd name="adj2" fmla="val 0"/>
              </a:avLst>
            </a:prstGeom>
            <a:solidFill>
              <a:srgbClr val="203864"/>
            </a:solidFill>
            <a:ln>
              <a:noFill/>
            </a:ln>
            <a:effectLst>
              <a:outerShdw blurRad="50800" dist="50800" dir="5400000" algn="ctr" rotWithShape="0">
                <a:schemeClr val="accent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3" name="Dikdörtgen 16">
            <a:extLst>
              <a:ext uri="{FF2B5EF4-FFF2-40B4-BE49-F238E27FC236}">
                <a16:creationId xmlns:a16="http://schemas.microsoft.com/office/drawing/2014/main" id="{673E6D9C-09A2-3180-A847-9F6830CB1024}"/>
              </a:ext>
            </a:extLst>
          </p:cNvPr>
          <p:cNvSpPr/>
          <p:nvPr/>
        </p:nvSpPr>
        <p:spPr>
          <a:xfrm>
            <a:off x="13080557" y="36069443"/>
            <a:ext cx="4714752" cy="1015663"/>
          </a:xfrm>
          <a:prstGeom prst="rect">
            <a:avLst/>
          </a:prstGeom>
        </p:spPr>
        <p:txBody>
          <a:bodyPr wrap="none">
            <a:spAutoFit/>
          </a:bodyPr>
          <a:lstStyle/>
          <a:p>
            <a:pPr algn="just">
              <a:tabLst>
                <a:tab pos="228600" algn="l"/>
              </a:tabLst>
            </a:pPr>
            <a:r>
              <a:rPr lang="tr-TR" sz="6000" b="1" dirty="0">
                <a:solidFill>
                  <a:schemeClr val="bg1"/>
                </a:solidFill>
                <a:ea typeface="Times New Roman" panose="02020603050405020304" pitchFamily="18" charset="0"/>
              </a:rPr>
              <a:t>REFERANSLAR</a:t>
            </a:r>
            <a:endParaRPr lang="en-US" sz="6000" dirty="0">
              <a:solidFill>
                <a:schemeClr val="bg1"/>
              </a:solidFill>
              <a:ea typeface="Times New Roman" panose="02020603050405020304" pitchFamily="18" charset="0"/>
            </a:endParaRPr>
          </a:p>
        </p:txBody>
      </p:sp>
      <p:sp>
        <p:nvSpPr>
          <p:cNvPr id="44" name="TextBox 27">
            <a:extLst>
              <a:ext uri="{FF2B5EF4-FFF2-40B4-BE49-F238E27FC236}">
                <a16:creationId xmlns:a16="http://schemas.microsoft.com/office/drawing/2014/main" id="{0235B214-D695-608C-753A-A31E9ADED991}"/>
              </a:ext>
            </a:extLst>
          </p:cNvPr>
          <p:cNvSpPr txBox="1"/>
          <p:nvPr/>
        </p:nvSpPr>
        <p:spPr>
          <a:xfrm>
            <a:off x="-2758036" y="41597165"/>
            <a:ext cx="24514385" cy="1415772"/>
          </a:xfrm>
          <a:prstGeom prst="rect">
            <a:avLst/>
          </a:prstGeom>
          <a:noFill/>
        </p:spPr>
        <p:txBody>
          <a:bodyPr wrap="square" rtlCol="0">
            <a:spAutoFit/>
          </a:bodyPr>
          <a:lstStyle/>
          <a:p>
            <a:r>
              <a:rPr lang="tr-TR" sz="3200" b="1" dirty="0">
                <a:solidFill>
                  <a:srgbClr val="203864"/>
                </a:solidFill>
              </a:rPr>
              <a:t>Yapılan çalışma ve projede herhangi bir fon desteği alınmamıştır.</a:t>
            </a:r>
          </a:p>
          <a:p>
            <a:r>
              <a:rPr lang="en-US" sz="3200" b="1" dirty="0">
                <a:solidFill>
                  <a:srgbClr val="203864"/>
                </a:solidFill>
              </a:rPr>
              <a:t> </a:t>
            </a:r>
          </a:p>
          <a:p>
            <a:r>
              <a:rPr lang="en-US" sz="2200" dirty="0">
                <a:solidFill>
                  <a:srgbClr val="203864"/>
                </a:solidFill>
              </a:rPr>
              <a:t>                </a:t>
            </a:r>
          </a:p>
        </p:txBody>
      </p:sp>
      <p:sp>
        <p:nvSpPr>
          <p:cNvPr id="68" name="TextBox 99"/>
          <p:cNvSpPr txBox="1"/>
          <p:nvPr/>
        </p:nvSpPr>
        <p:spPr>
          <a:xfrm>
            <a:off x="21673006" y="-6256987"/>
            <a:ext cx="6230775" cy="3046988"/>
          </a:xfrm>
          <a:prstGeom prst="rect">
            <a:avLst/>
          </a:prstGeom>
          <a:noFill/>
        </p:spPr>
        <p:txBody>
          <a:bodyPr wrap="square" rtlCol="0">
            <a:spAutoFit/>
          </a:bodyPr>
          <a:lstStyle/>
          <a:p>
            <a:pPr algn="ctr"/>
            <a:r>
              <a:rPr lang="tr-TR" sz="4800" b="1" dirty="0">
                <a:solidFill>
                  <a:srgbClr val="203864"/>
                </a:solidFill>
              </a:rPr>
              <a:t>MEKATRONİK</a:t>
            </a:r>
            <a:br>
              <a:rPr lang="tr-TR" sz="4800" b="1" dirty="0">
                <a:solidFill>
                  <a:srgbClr val="203864"/>
                </a:solidFill>
              </a:rPr>
            </a:br>
            <a:r>
              <a:rPr lang="tr-TR" sz="4800" b="1" dirty="0">
                <a:solidFill>
                  <a:srgbClr val="203864"/>
                </a:solidFill>
              </a:rPr>
              <a:t>MÜHENDİSLİĞİ </a:t>
            </a:r>
            <a:br>
              <a:rPr lang="tr-TR" sz="4800" b="1" dirty="0">
                <a:solidFill>
                  <a:srgbClr val="203864"/>
                </a:solidFill>
              </a:rPr>
            </a:br>
            <a:r>
              <a:rPr lang="tr-TR" sz="4800" b="1" dirty="0">
                <a:solidFill>
                  <a:srgbClr val="203864"/>
                </a:solidFill>
              </a:rPr>
              <a:t>PROJE SERGİSİ</a:t>
            </a:r>
            <a:br>
              <a:rPr lang="tr-TR" sz="4800" b="1" dirty="0">
                <a:solidFill>
                  <a:srgbClr val="203864"/>
                </a:solidFill>
              </a:rPr>
            </a:br>
            <a:r>
              <a:rPr lang="tr-TR" sz="4800" b="1" dirty="0">
                <a:solidFill>
                  <a:srgbClr val="203864"/>
                </a:solidFill>
              </a:rPr>
              <a:t>2025-2026 Güz</a:t>
            </a:r>
            <a:endParaRPr lang="en-US" sz="4800" b="1" dirty="0">
              <a:solidFill>
                <a:srgbClr val="203864"/>
              </a:solidFill>
            </a:endParaRPr>
          </a:p>
        </p:txBody>
      </p:sp>
      <p:pic>
        <p:nvPicPr>
          <p:cNvPr id="12" name="Resim 11" descr="grafik, grafik tasarım, logo, simge, sembol içeren bir resim">
            <a:extLst>
              <a:ext uri="{FF2B5EF4-FFF2-40B4-BE49-F238E27FC236}">
                <a16:creationId xmlns:a16="http://schemas.microsoft.com/office/drawing/2014/main" id="{882B0399-7235-C034-1B7E-38E22C9A5F7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74015" y="-7187744"/>
            <a:ext cx="4846947" cy="4846947"/>
          </a:xfrm>
          <a:prstGeom prst="rect">
            <a:avLst/>
          </a:prstGeom>
        </p:spPr>
      </p:pic>
      <p:sp>
        <p:nvSpPr>
          <p:cNvPr id="13" name="Dikdörtgen 16">
            <a:extLst>
              <a:ext uri="{FF2B5EF4-FFF2-40B4-BE49-F238E27FC236}">
                <a16:creationId xmlns:a16="http://schemas.microsoft.com/office/drawing/2014/main" id="{896A61E4-EE7B-89C8-309A-8B07FFEF8FA2}"/>
              </a:ext>
            </a:extLst>
          </p:cNvPr>
          <p:cNvSpPr/>
          <p:nvPr/>
        </p:nvSpPr>
        <p:spPr>
          <a:xfrm>
            <a:off x="-2200432" y="-933414"/>
            <a:ext cx="1882247" cy="1015663"/>
          </a:xfrm>
          <a:prstGeom prst="rect">
            <a:avLst/>
          </a:prstGeom>
        </p:spPr>
        <p:txBody>
          <a:bodyPr wrap="none">
            <a:spAutoFit/>
          </a:bodyPr>
          <a:lstStyle/>
          <a:p>
            <a:r>
              <a:rPr lang="tr-TR" sz="6000" b="1" dirty="0">
                <a:solidFill>
                  <a:schemeClr val="bg1"/>
                </a:solidFill>
              </a:rPr>
              <a:t>GİRİŞ</a:t>
            </a:r>
            <a:endParaRPr lang="en-US" sz="6000" dirty="0"/>
          </a:p>
        </p:txBody>
      </p:sp>
      <p:sp>
        <p:nvSpPr>
          <p:cNvPr id="14" name="TextBox 3">
            <a:extLst>
              <a:ext uri="{FF2B5EF4-FFF2-40B4-BE49-F238E27FC236}">
                <a16:creationId xmlns:a16="http://schemas.microsoft.com/office/drawing/2014/main" id="{74406676-F3CD-F329-F48A-1573B42B643A}"/>
              </a:ext>
            </a:extLst>
          </p:cNvPr>
          <p:cNvSpPr txBox="1"/>
          <p:nvPr/>
        </p:nvSpPr>
        <p:spPr>
          <a:xfrm>
            <a:off x="-2542059" y="19978908"/>
            <a:ext cx="14456464" cy="4893647"/>
          </a:xfrm>
          <a:prstGeom prst="rect">
            <a:avLst/>
          </a:prstGeom>
          <a:noFill/>
        </p:spPr>
        <p:txBody>
          <a:bodyPr wrap="square" rtlCol="0">
            <a:spAutoFit/>
          </a:bodyPr>
          <a:lstStyle/>
          <a:p>
            <a:pPr algn="just"/>
            <a:r>
              <a:rPr lang="tr-TR" sz="2600" b="1" dirty="0"/>
              <a:t>Konsept Tasarım ve Malzeme Karakterizasyonu:</a:t>
            </a:r>
          </a:p>
          <a:p>
            <a:pPr algn="just"/>
            <a:r>
              <a:rPr lang="tr-TR" sz="2600" dirty="0"/>
              <a:t>Bu çalışmada, sıfırdan şasi geometrisi oluşturmanın risklerini minimize etmek amacıyla literatür tabanlı </a:t>
            </a:r>
            <a:r>
              <a:rPr lang="tr-TR" sz="2600" i="1" dirty="0"/>
              <a:t>"Tasarım Yoluyla Araştırma" </a:t>
            </a:r>
            <a:r>
              <a:rPr lang="tr-TR" sz="2600" dirty="0"/>
              <a:t>(</a:t>
            </a:r>
            <a:r>
              <a:rPr lang="tr-TR" sz="2600" dirty="0" err="1"/>
              <a:t>Research</a:t>
            </a:r>
            <a:r>
              <a:rPr lang="tr-TR" sz="2600" dirty="0"/>
              <a:t> Through Design) metodolojisi benimsenmiştir. Şasi geometrisi, CIK-FIA tarafından belirlenen uluslararası standartlar (1040 mm aks aralığı ve 1400 mm iz genişliği) referans alınarak oluşturulmuş, ancak elektrikli tahrik sisteminin gereksinimleri doğrultusunda "</a:t>
            </a:r>
            <a:r>
              <a:rPr lang="tr-TR" sz="2600" dirty="0" err="1"/>
              <a:t>side-pod</a:t>
            </a:r>
            <a:r>
              <a:rPr lang="tr-TR" sz="2600" dirty="0"/>
              <a:t>" bölgeleri batarya taşıyıcı olarak yeniden yapılandırılmıştır. Malzeme seçiminde; havacılık çeliklerinin (AISI 4130) yüksek maliyeti ve düşük karbonlu çeliklerin (AISI 1020) yetersiz mukavemeti göz önüne alınarak optimizasyon yapılmış ve S355J2H dikişsiz çelik boru tercih edilmiştir . Seçilen malzemenin 355 MPa akma mukavemetine, 470-630 MPa çekme mukavemetine ve 7850 kg/m³ yoğunluğa sahip olması, şasi rijitliği ile ağırlık dengesinin korunmasını sağlamıştır . Şasi iskeletinde, yüksek burulma direnci gerektiren ana taşıyıcı hatlarda 32mm×2mm kesitli profiller kullanılırken; esneklik gerektiren ara bağlantı ve destek elemanlarında Ø25mm×2mm profiller kullanılarak ağırlık optimizasyonu sağlanmıştır.</a:t>
            </a:r>
          </a:p>
        </p:txBody>
      </p:sp>
      <p:sp>
        <p:nvSpPr>
          <p:cNvPr id="15" name="TextBox 3">
            <a:extLst>
              <a:ext uri="{FF2B5EF4-FFF2-40B4-BE49-F238E27FC236}">
                <a16:creationId xmlns:a16="http://schemas.microsoft.com/office/drawing/2014/main" id="{0C8F4ECA-7517-3F5F-CF64-CB7DC86D6B2B}"/>
              </a:ext>
            </a:extLst>
          </p:cNvPr>
          <p:cNvSpPr txBox="1"/>
          <p:nvPr/>
        </p:nvSpPr>
        <p:spPr>
          <a:xfrm>
            <a:off x="13080557" y="5322551"/>
            <a:ext cx="14456464" cy="4093428"/>
          </a:xfrm>
          <a:prstGeom prst="rect">
            <a:avLst/>
          </a:prstGeom>
          <a:noFill/>
        </p:spPr>
        <p:txBody>
          <a:bodyPr wrap="square" rtlCol="0">
            <a:spAutoFit/>
          </a:bodyPr>
          <a:lstStyle/>
          <a:p>
            <a:pPr algn="just"/>
            <a:r>
              <a:rPr lang="tr-TR" sz="2600" b="1" dirty="0"/>
              <a:t>Yapısal Bütünlük ve Sonlu Elemanlar Analizi (FEA): </a:t>
            </a:r>
          </a:p>
          <a:p>
            <a:pPr algn="just"/>
            <a:r>
              <a:rPr lang="tr-TR" sz="2600" dirty="0" err="1"/>
              <a:t>SolidWorks</a:t>
            </a:r>
            <a:r>
              <a:rPr lang="tr-TR" sz="2600" dirty="0"/>
              <a:t> </a:t>
            </a:r>
            <a:r>
              <a:rPr lang="tr-TR" sz="2600" dirty="0" err="1"/>
              <a:t>Simulation</a:t>
            </a:r>
            <a:r>
              <a:rPr lang="tr-TR" sz="2600" dirty="0"/>
              <a:t> ortamında, viraj dışı tekerlek için belirlenen 550 N kritik tasarım yükü altında gerçekleştirilen statik analizlerde, şasi genelindeki maksimum yer değiştirme (deformasyon) şasi merkezinde yalnızca 1.2 mm olarak tespit edilmiştir. Bu düşük deformasyon değeri, şasinin "</a:t>
            </a:r>
            <a:r>
              <a:rPr lang="tr-TR" sz="2600" dirty="0" err="1"/>
              <a:t>jacking</a:t>
            </a:r>
            <a:r>
              <a:rPr lang="tr-TR" sz="2600" dirty="0"/>
              <a:t> </a:t>
            </a:r>
            <a:r>
              <a:rPr lang="tr-TR" sz="2600" dirty="0" err="1"/>
              <a:t>effect</a:t>
            </a:r>
            <a:r>
              <a:rPr lang="tr-TR" sz="2600" dirty="0"/>
              <a:t>" için gerekli rijitliğe sahip olduğunu kanıtlamaktadır. </a:t>
            </a:r>
            <a:r>
              <a:rPr lang="tr-TR" sz="2600" dirty="0" err="1"/>
              <a:t>Von</a:t>
            </a:r>
            <a:r>
              <a:rPr lang="tr-TR" sz="2600" dirty="0"/>
              <a:t> </a:t>
            </a:r>
            <a:r>
              <a:rPr lang="tr-TR" sz="2600" dirty="0" err="1"/>
              <a:t>Mises</a:t>
            </a:r>
            <a:r>
              <a:rPr lang="tr-TR" sz="2600" dirty="0"/>
              <a:t> gerilme analizi sonuçlarına göre; şasi üzerindeki maksimum gerilme, en zorlu yükleme senaryosunda dahi 283 MPa seviyesinde kalmıştır. Kullanılan S355 çeliğinin akma mukavemeti 355 MPa olduğu göz önüne alındığında, tasarımın plastik deformasyona uğramadan elastik sınırlar içerisinde güvenli bir şekilde çalıştığı doğrulanmıştır. Ayrıca, ince cidarlı borularda kritik bir risk olan burkulma (</a:t>
            </a:r>
            <a:r>
              <a:rPr lang="tr-TR" sz="2600" dirty="0" err="1"/>
              <a:t>buckling</a:t>
            </a:r>
            <a:r>
              <a:rPr lang="tr-TR" sz="2600" dirty="0"/>
              <a:t>) analizi sonucunda yük faktörü 1.6 olarak bulunmuş, bu da yapının mevcut yüklerin 1.6 katına kadar stabil kalabileceğini göstermiştir.</a:t>
            </a:r>
          </a:p>
        </p:txBody>
      </p:sp>
      <p:sp>
        <p:nvSpPr>
          <p:cNvPr id="17" name="TextBox 3">
            <a:extLst>
              <a:ext uri="{FF2B5EF4-FFF2-40B4-BE49-F238E27FC236}">
                <a16:creationId xmlns:a16="http://schemas.microsoft.com/office/drawing/2014/main" id="{2B09F536-F56B-A2B2-3A85-01DDBD1B25C8}"/>
              </a:ext>
            </a:extLst>
          </p:cNvPr>
          <p:cNvSpPr txBox="1"/>
          <p:nvPr/>
        </p:nvSpPr>
        <p:spPr>
          <a:xfrm>
            <a:off x="13130840" y="32226458"/>
            <a:ext cx="14456464" cy="3693319"/>
          </a:xfrm>
          <a:prstGeom prst="rect">
            <a:avLst/>
          </a:prstGeom>
          <a:noFill/>
        </p:spPr>
        <p:txBody>
          <a:bodyPr wrap="square" rtlCol="0">
            <a:spAutoFit/>
          </a:bodyPr>
          <a:lstStyle/>
          <a:p>
            <a:pPr algn="just"/>
            <a:r>
              <a:rPr lang="tr-TR" sz="2600" dirty="0"/>
              <a:t>Bu proje, lisans seviyesinde bireysel bir tasarım çalışması olarak yürütüldüğünden, doğrulama süreçleri sanal prototipleme ve simülasyon ortamlarıyla sınırlı kalmıştır. Gelecek çalışmalarda, aracın fiziksel prototipinin üretilmesi ve şasi üzerine yerleştirilecek telemetri sensörleri (</a:t>
            </a:r>
            <a:r>
              <a:rPr lang="tr-TR" sz="2600" dirty="0" err="1"/>
              <a:t>strain-gauge</a:t>
            </a:r>
            <a:r>
              <a:rPr lang="tr-TR" sz="2600" dirty="0"/>
              <a:t>) ile esneklik davranışının gerçek pist koşullarında deneysel olarak doğrulanması önerilmektedir. Ayrıca, aracın güç/ağırlık oranını (</a:t>
            </a:r>
            <a:r>
              <a:rPr lang="tr-TR" sz="2600" dirty="0" err="1"/>
              <a:t>power-to-weight</a:t>
            </a:r>
            <a:r>
              <a:rPr lang="tr-TR" sz="2600" dirty="0"/>
              <a:t> </a:t>
            </a:r>
            <a:r>
              <a:rPr lang="tr-TR" sz="2600" dirty="0" err="1"/>
              <a:t>ratio</a:t>
            </a:r>
            <a:r>
              <a:rPr lang="tr-TR" sz="2600" dirty="0"/>
              <a:t>) daha da iyileştirmek adına; şasi malzemesi olarak mevcut S355 çeliği yerine daha hafif ve mukavemeti yüksek Krom-Molibden (AISI 4130) alaşımı kullanılabilir. Enerji depolama sisteminde ise, kullanılan 18650 </a:t>
            </a:r>
            <a:r>
              <a:rPr lang="tr-TR" sz="2600" dirty="0" err="1"/>
              <a:t>Li-Ion</a:t>
            </a:r>
            <a:r>
              <a:rPr lang="tr-TR" sz="2600" dirty="0"/>
              <a:t> hücreler yerine, gravimetrik enerji yoğunluğu daha yüksek olan Lityum-Polimer (</a:t>
            </a:r>
            <a:r>
              <a:rPr lang="tr-TR" sz="2600" dirty="0" err="1"/>
              <a:t>Li</a:t>
            </a:r>
            <a:r>
              <a:rPr lang="tr-TR" sz="2600" dirty="0"/>
              <a:t>-Po) batarya teknolojilerine geçiş yapılması, aracın dinamik performansını artıracaktır.</a:t>
            </a:r>
          </a:p>
        </p:txBody>
      </p:sp>
      <p:sp>
        <p:nvSpPr>
          <p:cNvPr id="23" name="TextBox 3">
            <a:extLst>
              <a:ext uri="{FF2B5EF4-FFF2-40B4-BE49-F238E27FC236}">
                <a16:creationId xmlns:a16="http://schemas.microsoft.com/office/drawing/2014/main" id="{6B61CFB0-9EA5-1BFE-F63B-3869B447F985}"/>
              </a:ext>
            </a:extLst>
          </p:cNvPr>
          <p:cNvSpPr txBox="1"/>
          <p:nvPr/>
        </p:nvSpPr>
        <p:spPr>
          <a:xfrm>
            <a:off x="13080557" y="37328212"/>
            <a:ext cx="14456464" cy="3046988"/>
          </a:xfrm>
          <a:prstGeom prst="rect">
            <a:avLst/>
          </a:prstGeom>
          <a:noFill/>
        </p:spPr>
        <p:txBody>
          <a:bodyPr wrap="square" rtlCol="0">
            <a:spAutoFit/>
          </a:bodyPr>
          <a:lstStyle/>
          <a:p>
            <a:pPr algn="just"/>
            <a:r>
              <a:rPr lang="tr-TR" sz="2400" dirty="0" err="1"/>
              <a:t>Budynas</a:t>
            </a:r>
            <a:r>
              <a:rPr lang="tr-TR" sz="2400" dirty="0"/>
              <a:t>, R.G. &amp; </a:t>
            </a:r>
            <a:r>
              <a:rPr lang="tr-TR" sz="2400" dirty="0" err="1"/>
              <a:t>Nisbett</a:t>
            </a:r>
            <a:r>
              <a:rPr lang="tr-TR" sz="2400" dirty="0"/>
              <a:t>, K.J. (2011). </a:t>
            </a:r>
            <a:r>
              <a:rPr lang="tr-TR" sz="2400" dirty="0" err="1"/>
              <a:t>Shigley's</a:t>
            </a:r>
            <a:r>
              <a:rPr lang="tr-TR" sz="2400" dirty="0"/>
              <a:t> </a:t>
            </a:r>
            <a:r>
              <a:rPr lang="tr-TR" sz="2400" dirty="0" err="1"/>
              <a:t>Mechanical</a:t>
            </a:r>
            <a:r>
              <a:rPr lang="tr-TR" sz="2400" dirty="0"/>
              <a:t> </a:t>
            </a:r>
            <a:r>
              <a:rPr lang="tr-TR" sz="2400" dirty="0" err="1"/>
              <a:t>Engineering</a:t>
            </a:r>
            <a:r>
              <a:rPr lang="tr-TR" sz="2400" dirty="0"/>
              <a:t> Design. McGraw-Hill.</a:t>
            </a:r>
          </a:p>
          <a:p>
            <a:pPr algn="just"/>
            <a:endParaRPr lang="tr-TR" sz="2400" dirty="0"/>
          </a:p>
          <a:p>
            <a:pPr algn="just"/>
            <a:r>
              <a:rPr lang="tr-TR" sz="2400" dirty="0" err="1"/>
              <a:t>Gillespie</a:t>
            </a:r>
            <a:r>
              <a:rPr lang="tr-TR" sz="2400" dirty="0"/>
              <a:t>, T.D. (1992). Fundamentals of </a:t>
            </a:r>
            <a:r>
              <a:rPr lang="tr-TR" sz="2400" dirty="0" err="1"/>
              <a:t>Vehicle</a:t>
            </a:r>
            <a:r>
              <a:rPr lang="tr-TR" sz="2400" dirty="0"/>
              <a:t> Dynamics. SAE International</a:t>
            </a:r>
          </a:p>
          <a:p>
            <a:pPr algn="just"/>
            <a:endParaRPr lang="tr-TR" sz="2400" dirty="0"/>
          </a:p>
          <a:p>
            <a:pPr algn="just"/>
            <a:r>
              <a:rPr lang="tr-TR" sz="2400" dirty="0" err="1"/>
              <a:t>Mihalić</a:t>
            </a:r>
            <a:r>
              <a:rPr lang="tr-TR" sz="2400" dirty="0"/>
              <a:t>, T., </a:t>
            </a:r>
            <a:r>
              <a:rPr lang="tr-TR" sz="2400" dirty="0" err="1"/>
              <a:t>Hoster</a:t>
            </a:r>
            <a:r>
              <a:rPr lang="tr-TR" sz="2400" dirty="0"/>
              <a:t>, J., </a:t>
            </a:r>
            <a:r>
              <a:rPr lang="tr-TR" sz="2400" dirty="0" err="1"/>
              <a:t>Tudić</a:t>
            </a:r>
            <a:r>
              <a:rPr lang="tr-TR" sz="2400" dirty="0"/>
              <a:t>, V. &amp; </a:t>
            </a:r>
            <a:r>
              <a:rPr lang="tr-TR" sz="2400" dirty="0" err="1"/>
              <a:t>Kralj</a:t>
            </a:r>
            <a:r>
              <a:rPr lang="tr-TR" sz="2400" dirty="0"/>
              <a:t>, T. (2023). '</a:t>
            </a:r>
            <a:r>
              <a:rPr lang="tr-TR" sz="2400" dirty="0" err="1"/>
              <a:t>Concept</a:t>
            </a:r>
            <a:r>
              <a:rPr lang="tr-TR" sz="2400" dirty="0"/>
              <a:t> Design </a:t>
            </a:r>
            <a:r>
              <a:rPr lang="tr-TR" sz="2400" dirty="0" err="1"/>
              <a:t>and</a:t>
            </a:r>
            <a:r>
              <a:rPr lang="tr-TR" sz="2400" dirty="0"/>
              <a:t> Development of an </a:t>
            </a:r>
            <a:r>
              <a:rPr lang="tr-TR" sz="2400" dirty="0" err="1"/>
              <a:t>Electric</a:t>
            </a:r>
            <a:r>
              <a:rPr lang="tr-TR" sz="2400" dirty="0"/>
              <a:t> </a:t>
            </a:r>
            <a:r>
              <a:rPr lang="tr-TR" sz="2400" dirty="0" err="1"/>
              <a:t>Go</a:t>
            </a:r>
            <a:r>
              <a:rPr lang="tr-TR" sz="2400" dirty="0"/>
              <a:t>-Kart </a:t>
            </a:r>
            <a:r>
              <a:rPr lang="tr-TR" sz="2400" dirty="0" err="1"/>
              <a:t>Chassis</a:t>
            </a:r>
            <a:r>
              <a:rPr lang="tr-TR" sz="2400" dirty="0"/>
              <a:t>', </a:t>
            </a:r>
            <a:r>
              <a:rPr lang="tr-TR" sz="2400" dirty="0" err="1"/>
              <a:t>Applied</a:t>
            </a:r>
            <a:r>
              <a:rPr lang="tr-TR" sz="2400" dirty="0"/>
              <a:t> </a:t>
            </a:r>
            <a:r>
              <a:rPr lang="tr-TR" sz="2400" dirty="0" err="1"/>
              <a:t>Sciences</a:t>
            </a:r>
            <a:r>
              <a:rPr lang="tr-TR" sz="2400" dirty="0"/>
              <a:t>.</a:t>
            </a:r>
          </a:p>
          <a:p>
            <a:pPr algn="just"/>
            <a:endParaRPr lang="tr-TR" sz="2400" dirty="0"/>
          </a:p>
          <a:p>
            <a:pPr algn="just"/>
            <a:r>
              <a:rPr lang="tr-TR" sz="2400" dirty="0" err="1"/>
              <a:t>Milliken</a:t>
            </a:r>
            <a:r>
              <a:rPr lang="tr-TR" sz="2400" dirty="0"/>
              <a:t>, W.F. &amp; </a:t>
            </a:r>
            <a:r>
              <a:rPr lang="tr-TR" sz="2400" dirty="0" err="1"/>
              <a:t>Milliken</a:t>
            </a:r>
            <a:r>
              <a:rPr lang="tr-TR" sz="2400" dirty="0"/>
              <a:t>, D.L. (1995). </a:t>
            </a:r>
            <a:r>
              <a:rPr lang="tr-TR" sz="2400" dirty="0" err="1"/>
              <a:t>Race</a:t>
            </a:r>
            <a:r>
              <a:rPr lang="tr-TR" sz="2400" dirty="0"/>
              <a:t> Car </a:t>
            </a:r>
            <a:r>
              <a:rPr lang="tr-TR" sz="2400" dirty="0" err="1"/>
              <a:t>Vehicle</a:t>
            </a:r>
            <a:r>
              <a:rPr lang="tr-TR" sz="2400" dirty="0"/>
              <a:t> Dynamics. SAE International.</a:t>
            </a:r>
          </a:p>
        </p:txBody>
      </p:sp>
      <p:pic>
        <p:nvPicPr>
          <p:cNvPr id="45" name="Resim 44" descr="taşımak, nakletmek, tekerlek, araba lastiği, Araba parçası içeren bir resim&#10;&#10;Yapay zeka tarafından oluşturulmuş içerik yanlış olabilir.">
            <a:extLst>
              <a:ext uri="{FF2B5EF4-FFF2-40B4-BE49-F238E27FC236}">
                <a16:creationId xmlns:a16="http://schemas.microsoft.com/office/drawing/2014/main" id="{E5435C0F-DC7C-B016-5B9D-9E97322617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58036" y="9324333"/>
            <a:ext cx="14897072" cy="8303469"/>
          </a:xfrm>
          <a:prstGeom prst="rect">
            <a:avLst/>
          </a:prstGeom>
        </p:spPr>
      </p:pic>
      <p:pic>
        <p:nvPicPr>
          <p:cNvPr id="50" name="Resim 49" descr="araba lastiği, tekerlek, Araba parçası, taşıt, araç içeren bir resim&#10;&#10;Yapay zeka tarafından oluşturulmuş içerik yanlış olabilir.">
            <a:extLst>
              <a:ext uri="{FF2B5EF4-FFF2-40B4-BE49-F238E27FC236}">
                <a16:creationId xmlns:a16="http://schemas.microsoft.com/office/drawing/2014/main" id="{6DD2452C-68D1-685D-3C8B-339E22D80F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69446" y="25714392"/>
            <a:ext cx="7885568" cy="4412976"/>
          </a:xfrm>
          <a:prstGeom prst="rect">
            <a:avLst/>
          </a:prstGeom>
        </p:spPr>
      </p:pic>
      <p:sp>
        <p:nvSpPr>
          <p:cNvPr id="51" name="TextBox 3">
            <a:extLst>
              <a:ext uri="{FF2B5EF4-FFF2-40B4-BE49-F238E27FC236}">
                <a16:creationId xmlns:a16="http://schemas.microsoft.com/office/drawing/2014/main" id="{05C3D1C6-639A-50E1-5B6A-0E8DFFCF2A80}"/>
              </a:ext>
            </a:extLst>
          </p:cNvPr>
          <p:cNvSpPr txBox="1"/>
          <p:nvPr/>
        </p:nvSpPr>
        <p:spPr>
          <a:xfrm>
            <a:off x="-2459358" y="25120916"/>
            <a:ext cx="6797021" cy="10095071"/>
          </a:xfrm>
          <a:prstGeom prst="rect">
            <a:avLst/>
          </a:prstGeom>
          <a:noFill/>
        </p:spPr>
        <p:txBody>
          <a:bodyPr wrap="square" rtlCol="0">
            <a:spAutoFit/>
          </a:bodyPr>
          <a:lstStyle/>
          <a:p>
            <a:pPr algn="just"/>
            <a:r>
              <a:rPr lang="tr-TR" sz="2600" b="1" dirty="0"/>
              <a:t>Araç Dinamiği ve Yük Simülasyonu: </a:t>
            </a:r>
          </a:p>
          <a:p>
            <a:pPr algn="just"/>
            <a:r>
              <a:rPr lang="tr-TR" sz="2600" dirty="0"/>
              <a:t>Aracın viraj alma performansı, </a:t>
            </a:r>
            <a:r>
              <a:rPr lang="tr-TR" sz="2600" dirty="0" err="1"/>
              <a:t>Gillespie</a:t>
            </a:r>
            <a:r>
              <a:rPr lang="tr-TR" sz="2600" dirty="0"/>
              <a:t> (1992) tarafından literatüre kazandırılan "Yarı-Statik Yük Transferi" (</a:t>
            </a:r>
            <a:r>
              <a:rPr lang="tr-TR" sz="2600" dirty="0" err="1"/>
              <a:t>Quasi-Static</a:t>
            </a:r>
            <a:r>
              <a:rPr lang="tr-TR" sz="2600" dirty="0"/>
              <a:t> </a:t>
            </a:r>
            <a:r>
              <a:rPr lang="tr-TR" sz="2600" dirty="0" err="1"/>
              <a:t>Load</a:t>
            </a:r>
            <a:r>
              <a:rPr lang="tr-TR" sz="2600" dirty="0"/>
              <a:t> Transfer) yaklaşımı ile modellenmiştir. Simülasyon senaryosu olarak; 16 metre viraj yarıçapında 10 m/s hızla seyreden ve 6.25 m/s² yanal ivmeye maruz kalan toplam 130 kg kütleli (sürücü dahil) bir araç modellenmiştir. Bu senaryoda ağırlık merkezi yüksekliğinin şasi stabilitesine etkisi analiz edilerek, viraj dışı tekerleklere etkiyen dinamik yükler teorik olarak hesaplanmıştır. Sonlu Elemanlar Analizi (FEA) süreçlerinde kullanılacak sınır şartları (</a:t>
            </a:r>
            <a:r>
              <a:rPr lang="tr-TR" sz="2600" dirty="0" err="1"/>
              <a:t>boundary</a:t>
            </a:r>
            <a:r>
              <a:rPr lang="tr-TR" sz="2600" dirty="0"/>
              <a:t> </a:t>
            </a:r>
            <a:r>
              <a:rPr lang="tr-TR" sz="2600" dirty="0" err="1"/>
              <a:t>conditions</a:t>
            </a:r>
            <a:r>
              <a:rPr lang="tr-TR" sz="2600" dirty="0"/>
              <a:t>) belirlenirken, sadece statik yükler değil, pist koşullarındaki olası darbeler de hesaba katılmıştır. Bu doğrultuda, viraj dışı arka tekerlek için teorik yükün üzerine dinamik şok faktörü eklenerek 550 N değerinde bir tasarım yükü tanımlanmış; viraj içi tekerlek yükü ise "</a:t>
            </a:r>
            <a:r>
              <a:rPr lang="tr-TR" sz="2600" dirty="0" err="1"/>
              <a:t>jacking</a:t>
            </a:r>
            <a:r>
              <a:rPr lang="tr-TR" sz="2600" dirty="0"/>
              <a:t> </a:t>
            </a:r>
            <a:r>
              <a:rPr lang="tr-TR" sz="2600" dirty="0" err="1"/>
              <a:t>effect</a:t>
            </a:r>
            <a:r>
              <a:rPr lang="tr-TR" sz="2600" dirty="0"/>
              <a:t>" kabiliyetini doğrulamak adına 100 N seviyesine düşürülmüştür. Analizlerde kaynaklı birleşimler "</a:t>
            </a:r>
            <a:r>
              <a:rPr lang="tr-TR" sz="2600" dirty="0" err="1"/>
              <a:t>bonded</a:t>
            </a:r>
            <a:r>
              <a:rPr lang="tr-TR" sz="2600" dirty="0"/>
              <a:t>" (yapışık) kabul edilmiş ve çözüm ağı (mesh) oluşturulurken kritik bölgelerde eleman boyutu 2 mm'ye kadar düşürülmüştür.</a:t>
            </a:r>
          </a:p>
        </p:txBody>
      </p:sp>
      <p:pic>
        <p:nvPicPr>
          <p:cNvPr id="57" name="Resim 56">
            <a:extLst>
              <a:ext uri="{FF2B5EF4-FFF2-40B4-BE49-F238E27FC236}">
                <a16:creationId xmlns:a16="http://schemas.microsoft.com/office/drawing/2014/main" id="{AA9EB83B-BB97-6F7B-D50D-87C1D9428F9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06423" y="30467663"/>
            <a:ext cx="7800856" cy="5060796"/>
          </a:xfrm>
          <a:prstGeom prst="rect">
            <a:avLst/>
          </a:prstGeom>
        </p:spPr>
      </p:pic>
      <p:sp>
        <p:nvSpPr>
          <p:cNvPr id="58" name="TextBox 3">
            <a:extLst>
              <a:ext uri="{FF2B5EF4-FFF2-40B4-BE49-F238E27FC236}">
                <a16:creationId xmlns:a16="http://schemas.microsoft.com/office/drawing/2014/main" id="{9CA3456E-B37A-6AFD-6A11-41B1D7C472EE}"/>
              </a:ext>
            </a:extLst>
          </p:cNvPr>
          <p:cNvSpPr txBox="1"/>
          <p:nvPr/>
        </p:nvSpPr>
        <p:spPr>
          <a:xfrm>
            <a:off x="-2508255" y="35472739"/>
            <a:ext cx="14456464" cy="4493538"/>
          </a:xfrm>
          <a:prstGeom prst="rect">
            <a:avLst/>
          </a:prstGeom>
          <a:noFill/>
        </p:spPr>
        <p:txBody>
          <a:bodyPr wrap="square" rtlCol="0">
            <a:spAutoFit/>
          </a:bodyPr>
          <a:lstStyle/>
          <a:p>
            <a:pPr algn="just"/>
            <a:r>
              <a:rPr lang="tr-TR" sz="2600" b="1" dirty="0"/>
              <a:t>Yapısal Analiz (FEA) ve Güç Aktarım Entegrasyonu:</a:t>
            </a:r>
          </a:p>
          <a:p>
            <a:pPr algn="just"/>
            <a:r>
              <a:rPr lang="tr-TR" sz="2600" dirty="0"/>
              <a:t>Aracın tahrik sistemi, toplam direnç kuvvetleri olan yuvarlanma ve aerodinamik dirençlerin (toplam 99.6 N) 16.6 m/s hızda yenilmesi prensibine göre boyutlandırılmıştır. Bu gereksinimi karşılamak üzere %90 sistem verimliliğine sahip 1.7 kW 48V Fırçasız DC (BLDC) motor sisteme entegre edilmiştir. </a:t>
            </a:r>
            <a:r>
              <a:rPr lang="tr-TR" sz="2600" dirty="0" err="1"/>
              <a:t>Tork</a:t>
            </a:r>
            <a:r>
              <a:rPr lang="tr-TR" sz="2600" dirty="0"/>
              <a:t> iletiminde zincir-dişli mekanizması kullanılmış; motor devri ve tekerlek devri oranlanarak 3.69:1 (13T Motor / 48T Aks) redüksiyon oranı belirlenmiştir. Enerji depolama ünitesi olarak, 20 dakikalık yarış süresi boyunca termal stabiliteyi koruyacak ve 1512 </a:t>
            </a:r>
            <a:r>
              <a:rPr lang="tr-TR" sz="2600" dirty="0" err="1"/>
              <a:t>Wh</a:t>
            </a:r>
            <a:r>
              <a:rPr lang="tr-TR" sz="2600" dirty="0"/>
              <a:t> enerji kapasitesi sunacak 14S10P konfigürasyonunda </a:t>
            </a:r>
            <a:r>
              <a:rPr lang="tr-TR" sz="2600" dirty="0" err="1"/>
              <a:t>Li-Ion</a:t>
            </a:r>
            <a:r>
              <a:rPr lang="tr-TR" sz="2600" dirty="0"/>
              <a:t> batarya paketi tasarlanmıştır. Batarya güvenliği, hücre voltajlarını 4.2V seviyesinde dengeleyen ve 60A üzeri akım çekiminde devreyi kesen </a:t>
            </a:r>
            <a:r>
              <a:rPr lang="tr-TR" sz="2600" dirty="0" err="1"/>
              <a:t>Deligreen</a:t>
            </a:r>
            <a:r>
              <a:rPr lang="tr-TR" sz="2600" dirty="0"/>
              <a:t> 14S BMS modülü ile sağlanmıştır. Ayrıca arka aks mili tasarımında </a:t>
            </a:r>
            <a:r>
              <a:rPr lang="tr-TR" sz="2600" dirty="0" err="1"/>
              <a:t>Soderberg</a:t>
            </a:r>
            <a:r>
              <a:rPr lang="tr-TR" sz="2600" dirty="0"/>
              <a:t> Yorulma Kriteri uygulanarak, dinamik eğilme ve burulma momentleri altında mil çapının 25 mm olması gerektiği doğrulanmıştır.</a:t>
            </a:r>
          </a:p>
        </p:txBody>
      </p:sp>
      <p:sp>
        <p:nvSpPr>
          <p:cNvPr id="60" name="TextBox 3">
            <a:extLst>
              <a:ext uri="{FF2B5EF4-FFF2-40B4-BE49-F238E27FC236}">
                <a16:creationId xmlns:a16="http://schemas.microsoft.com/office/drawing/2014/main" id="{54FEAAB1-7550-2DDD-3C06-C37E6F86FE4B}"/>
              </a:ext>
            </a:extLst>
          </p:cNvPr>
          <p:cNvSpPr txBox="1"/>
          <p:nvPr/>
        </p:nvSpPr>
        <p:spPr>
          <a:xfrm>
            <a:off x="12993192" y="13728533"/>
            <a:ext cx="14456464" cy="3293209"/>
          </a:xfrm>
          <a:prstGeom prst="rect">
            <a:avLst/>
          </a:prstGeom>
          <a:noFill/>
        </p:spPr>
        <p:txBody>
          <a:bodyPr wrap="square" rtlCol="0">
            <a:spAutoFit/>
          </a:bodyPr>
          <a:lstStyle/>
          <a:p>
            <a:pPr algn="just"/>
            <a:r>
              <a:rPr lang="tr-TR" sz="2600" b="1" dirty="0"/>
              <a:t>Kritik Bölge Doğrulaması ve Yorulma Ömrü:</a:t>
            </a:r>
          </a:p>
          <a:p>
            <a:pPr algn="just"/>
            <a:r>
              <a:rPr lang="tr-TR" sz="2600" dirty="0"/>
              <a:t>Global analizde gerilme yığılmalarının yoğunlaştığı tespit edilen direksiyon mafsal bağlantıları (</a:t>
            </a:r>
            <a:r>
              <a:rPr lang="tr-TR" sz="2600" dirty="0" err="1"/>
              <a:t>stub</a:t>
            </a:r>
            <a:r>
              <a:rPr lang="tr-TR" sz="2600" dirty="0"/>
              <a:t> </a:t>
            </a:r>
            <a:r>
              <a:rPr lang="tr-TR" sz="2600" dirty="0" err="1"/>
              <a:t>axle</a:t>
            </a:r>
            <a:r>
              <a:rPr lang="tr-TR" sz="2600" dirty="0"/>
              <a:t>), "Alt Modelleme" (</a:t>
            </a:r>
            <a:r>
              <a:rPr lang="tr-TR" sz="2600" dirty="0" err="1"/>
              <a:t>Sub-modeling</a:t>
            </a:r>
            <a:r>
              <a:rPr lang="tr-TR" sz="2600" dirty="0"/>
              <a:t>) tekniği ile detaylandırılmıştır. Bu hassas analiz sonucunda, en kritik bölgedeki güvenlik katsayısının (FOS) 1.25 olduğu, şasi genelinde ise bu değerin 1.6 ile 4.0 arasında değiştiği görülmüştür . Yarış araçlarında ağırlık optimizasyonu için kabul edilebilir alt sınırın 1.25-1.5 olduğu düşünüldüğünde, tasarımın hem hafiflik hem de mukavemet açısından optimum noktada olduğu değerlendirilmiştir. Güç aktarım sisteminde ise, arka aks mili için uygulanan </a:t>
            </a:r>
            <a:r>
              <a:rPr lang="tr-TR" sz="2600" dirty="0" err="1"/>
              <a:t>Soderberg</a:t>
            </a:r>
            <a:r>
              <a:rPr lang="tr-TR" sz="2600" dirty="0"/>
              <a:t> Kriteri analizi, milin dinamik yükler altında sonsuz ömre sahip olacağını teorik olarak doğrulamıştır.</a:t>
            </a:r>
          </a:p>
        </p:txBody>
      </p:sp>
      <p:sp>
        <p:nvSpPr>
          <p:cNvPr id="63" name="TextBox 3">
            <a:extLst>
              <a:ext uri="{FF2B5EF4-FFF2-40B4-BE49-F238E27FC236}">
                <a16:creationId xmlns:a16="http://schemas.microsoft.com/office/drawing/2014/main" id="{2C828028-8E0D-3B13-03DF-76BB57A973A3}"/>
              </a:ext>
            </a:extLst>
          </p:cNvPr>
          <p:cNvSpPr txBox="1"/>
          <p:nvPr/>
        </p:nvSpPr>
        <p:spPr>
          <a:xfrm>
            <a:off x="13080557" y="22397146"/>
            <a:ext cx="14456464" cy="2893100"/>
          </a:xfrm>
          <a:prstGeom prst="rect">
            <a:avLst/>
          </a:prstGeom>
          <a:noFill/>
        </p:spPr>
        <p:txBody>
          <a:bodyPr wrap="square" rtlCol="0">
            <a:spAutoFit/>
          </a:bodyPr>
          <a:lstStyle/>
          <a:p>
            <a:pPr algn="just"/>
            <a:r>
              <a:rPr lang="tr-TR" sz="2600" b="1" dirty="0"/>
              <a:t>Maliyet Etkinliği ve Performans Kestirimi:</a:t>
            </a:r>
          </a:p>
          <a:p>
            <a:pPr algn="just"/>
            <a:r>
              <a:rPr lang="tr-TR" sz="2600" dirty="0"/>
              <a:t>Tasarlanan elektrikli </a:t>
            </a:r>
            <a:r>
              <a:rPr lang="tr-TR" sz="2600" dirty="0" err="1"/>
              <a:t>go</a:t>
            </a:r>
            <a:r>
              <a:rPr lang="tr-TR" sz="2600" dirty="0"/>
              <a:t>-kart platformunun prototip üretim maliyeti, piyasa koşullarına göre (motor, batarya, şasi malzemeleri ve işçilik dahil) yaklaşık 97.420 TL olarak hesaplanmıştır. Bu maliyet, ithal edilen elektrikli yarış şasilerine kıyasla yerli üretimin ekonomik avantajını ortaya koymaktadır. Enerji yönetim simülasyonlarında, 1.7 kW motor ve 1512 </a:t>
            </a:r>
            <a:r>
              <a:rPr lang="tr-TR" sz="2600" dirty="0" err="1"/>
              <a:t>Wh</a:t>
            </a:r>
            <a:r>
              <a:rPr lang="tr-TR" sz="2600" dirty="0"/>
              <a:t> batarya paketi kombinasyonunun, aracı teorik olarak 60 km/s maksimum hıza ulaştırabileceği ve tam performanslı kullanımda 20 dakikalık yarış seansını termal limitlere takılmadan tamamlayabileceği öngörülmüştür.</a:t>
            </a:r>
          </a:p>
        </p:txBody>
      </p:sp>
      <p:pic>
        <p:nvPicPr>
          <p:cNvPr id="73" name="Resim 72" descr="oyun alanı, çocuk bahçesi, ekran görüntüsü içeren bir resim&#10;&#10;Yapay zeka tarafından oluşturulmuş içerik yanlış olabilir.">
            <a:extLst>
              <a:ext uri="{FF2B5EF4-FFF2-40B4-BE49-F238E27FC236}">
                <a16:creationId xmlns:a16="http://schemas.microsoft.com/office/drawing/2014/main" id="{7681050C-8A3A-18D8-D0B4-675C082D03A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042203" y="9920883"/>
            <a:ext cx="7412632" cy="3564544"/>
          </a:xfrm>
          <a:prstGeom prst="rect">
            <a:avLst/>
          </a:prstGeom>
        </p:spPr>
      </p:pic>
      <p:pic>
        <p:nvPicPr>
          <p:cNvPr id="75" name="Resim 74" descr="oyun alanı, çocuk bahçesi, ekran görüntüsü, diyagram içeren bir resim&#10;&#10;Yapay zeka tarafından oluşturulmuş içerik yanlış olabilir.">
            <a:extLst>
              <a:ext uri="{FF2B5EF4-FFF2-40B4-BE49-F238E27FC236}">
                <a16:creationId xmlns:a16="http://schemas.microsoft.com/office/drawing/2014/main" id="{3A2898D3-86FF-F6CE-61B7-BE04B9FEF90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0153320" y="9929802"/>
            <a:ext cx="7296336" cy="3433859"/>
          </a:xfrm>
          <a:prstGeom prst="rect">
            <a:avLst/>
          </a:prstGeom>
        </p:spPr>
      </p:pic>
      <p:pic>
        <p:nvPicPr>
          <p:cNvPr id="82" name="Resim 81" descr="taslak, çizim içeren bir resim&#10;&#10;Yapay zeka tarafından oluşturulmuş içerik yanlış olabilir.">
            <a:extLst>
              <a:ext uri="{FF2B5EF4-FFF2-40B4-BE49-F238E27FC236}">
                <a16:creationId xmlns:a16="http://schemas.microsoft.com/office/drawing/2014/main" id="{CB0CD6B5-BB6F-1C7F-077F-3B14B91CA4C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080557" y="17288501"/>
            <a:ext cx="6545305" cy="4747917"/>
          </a:xfrm>
          <a:prstGeom prst="rect">
            <a:avLst/>
          </a:prstGeom>
        </p:spPr>
      </p:pic>
      <p:pic>
        <p:nvPicPr>
          <p:cNvPr id="85" name="Resim 84" descr="ekran görüntüsü, renklilik, grafik tasarım içeren bir resim&#10;&#10;Yapay zeka tarafından oluşturulmuş içerik yanlış olabilir.">
            <a:extLst>
              <a:ext uri="{FF2B5EF4-FFF2-40B4-BE49-F238E27FC236}">
                <a16:creationId xmlns:a16="http://schemas.microsoft.com/office/drawing/2014/main" id="{7C5A0D19-5770-9903-8C0F-EC2489470B8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0052420" y="17311344"/>
            <a:ext cx="7498136" cy="4747917"/>
          </a:xfrm>
          <a:prstGeom prst="rect">
            <a:avLst/>
          </a:prstGeom>
        </p:spPr>
      </p:pic>
      <p:pic>
        <p:nvPicPr>
          <p:cNvPr id="89" name="Resim 88" descr="taslak, çizim, tasarım içeren bir resim&#10;&#10;Yapay zeka tarafından oluşturulmuş içerik yanlış olabilir.">
            <a:extLst>
              <a:ext uri="{FF2B5EF4-FFF2-40B4-BE49-F238E27FC236}">
                <a16:creationId xmlns:a16="http://schemas.microsoft.com/office/drawing/2014/main" id="{149DD004-3245-C928-2F89-D86495C0144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2932908" y="-652936"/>
            <a:ext cx="6982820" cy="4332865"/>
          </a:xfrm>
          <a:prstGeom prst="rect">
            <a:avLst/>
          </a:prstGeom>
        </p:spPr>
      </p:pic>
      <p:pic>
        <p:nvPicPr>
          <p:cNvPr id="92" name="Resim 91" descr="taslak, çizim, oyun alanı, çocuk bahçesi, çocukların yaptığı resimler içeren bir resim&#10;&#10;Yapay zeka tarafından oluşturulmuş içerik yanlış olabilir.">
            <a:extLst>
              <a:ext uri="{FF2B5EF4-FFF2-40B4-BE49-F238E27FC236}">
                <a16:creationId xmlns:a16="http://schemas.microsoft.com/office/drawing/2014/main" id="{22E815D1-DF5B-0318-FB80-B03BF50D2F7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0310728" y="-617382"/>
            <a:ext cx="7514916" cy="4325596"/>
          </a:xfrm>
          <a:prstGeom prst="rect">
            <a:avLst/>
          </a:prstGeom>
        </p:spPr>
      </p:pic>
      <p:pic>
        <p:nvPicPr>
          <p:cNvPr id="94" name="Resim 93" descr="tekerlek, araba lastiği, taşımak, nakletmek, Araba parçası içeren bir resim&#10;&#10;Yapay zeka tarafından oluşturulmuş içerik yanlış olabilir.">
            <a:extLst>
              <a:ext uri="{FF2B5EF4-FFF2-40B4-BE49-F238E27FC236}">
                <a16:creationId xmlns:a16="http://schemas.microsoft.com/office/drawing/2014/main" id="{4C97EF6E-E6CB-2090-0C07-428D942DEF6F}"/>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3152803" y="25557274"/>
            <a:ext cx="6995990" cy="4829400"/>
          </a:xfrm>
          <a:prstGeom prst="rect">
            <a:avLst/>
          </a:prstGeom>
        </p:spPr>
      </p:pic>
      <p:pic>
        <p:nvPicPr>
          <p:cNvPr id="96" name="Resim 95" descr="araba lastiği, tekerlek, taşımak, nakletmek, Araba parçası içeren bir resim&#10;&#10;Yapay zeka tarafından oluşturulmuş içerik yanlış olabilir.">
            <a:extLst>
              <a:ext uri="{FF2B5EF4-FFF2-40B4-BE49-F238E27FC236}">
                <a16:creationId xmlns:a16="http://schemas.microsoft.com/office/drawing/2014/main" id="{7EB86619-D3B1-7D9A-32B8-7B2EDF01E5CA}"/>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0328314" y="25713698"/>
            <a:ext cx="7121342" cy="4998634"/>
          </a:xfrm>
          <a:prstGeom prst="rect">
            <a:avLst/>
          </a:prstGeom>
        </p:spPr>
      </p:pic>
    </p:spTree>
    <p:extLst>
      <p:ext uri="{BB962C8B-B14F-4D97-AF65-F5344CB8AC3E}">
        <p14:creationId xmlns:p14="http://schemas.microsoft.com/office/powerpoint/2010/main" val="3315102518"/>
      </p:ext>
    </p:extLst>
  </p:cSld>
  <p:clrMapOvr>
    <a:masterClrMapping/>
  </p:clrMapOvr>
</p:sld>
</file>

<file path=ppt/theme/theme1.xml><?xml version="1.0" encoding="utf-8"?>
<a:theme xmlns:a="http://schemas.openxmlformats.org/drawingml/2006/main" name="Office 2013 - 2022 Teması">
  <a:themeElements>
    <a:clrScheme name="Office 2013 - 2022 Teması">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eması">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eması">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2168</TotalTime>
  <Words>1439</Words>
  <Application>Microsoft Office PowerPoint</Application>
  <PresentationFormat>Özel</PresentationFormat>
  <Paragraphs>50</Paragraphs>
  <Slides>1</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vt:i4>
      </vt:variant>
    </vt:vector>
  </HeadingPairs>
  <TitlesOfParts>
    <vt:vector size="6" baseType="lpstr">
      <vt:lpstr>Arial</vt:lpstr>
      <vt:lpstr>Calibri</vt:lpstr>
      <vt:lpstr>Calibri Light</vt:lpstr>
      <vt:lpstr>Times New Roman</vt:lpstr>
      <vt:lpstr>Office 2013 - 2022 Teması</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erdoğan kır</dc:creator>
  <cp:lastModifiedBy>Erdoğan Kır</cp:lastModifiedBy>
  <cp:revision>351</cp:revision>
  <dcterms:created xsi:type="dcterms:W3CDTF">2015-09-25T15:22:33Z</dcterms:created>
  <dcterms:modified xsi:type="dcterms:W3CDTF">2026-01-21T14:40:47Z</dcterms:modified>
</cp:coreProperties>
</file>